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7556500" cy="10693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60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Pulse para desplazar la página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s-CO" sz="2000" b="0" strike="noStrike" spc="-1">
                <a:latin typeface="Arial"/>
              </a:rPr>
              <a:t>Pulse para editar el formato de las notas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s-CO" sz="1400" b="0" strike="noStrike" spc="-1">
                <a:latin typeface="Times New Roman"/>
              </a:rPr>
              <a:t>&lt;cabecera&gt;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es-CO" sz="1400" b="0" strike="noStrike" spc="-1">
                <a:latin typeface="Times New Roman"/>
              </a:rPr>
              <a:t>&lt;fecha/hora&gt;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s-CO" sz="1400" b="0" strike="noStrike" spc="-1">
                <a:latin typeface="Times New Roman"/>
              </a:rPr>
              <a:t>&lt;pie de página&gt;</a:t>
            </a:r>
          </a:p>
        </p:txBody>
      </p:sp>
      <p:sp>
        <p:nvSpPr>
          <p:cNvPr id="46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B6D12470-4ECA-431A-A1FF-6DFE0AB5B6D6}" type="slidenum">
              <a:rPr lang="es-CO" sz="1400" b="0" strike="noStrike" spc="-1">
                <a:latin typeface="Times New Roman"/>
              </a:rPr>
              <a:t>‹Nº›</a:t>
            </a:fld>
            <a:endParaRPr lang="es-CO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/>
          <a:lstStyle/>
          <a:p>
            <a:endParaRPr lang="es-CO" sz="2000" b="0" strike="noStrike" spc="-1">
              <a:latin typeface="Arial"/>
            </a:endParaRPr>
          </a:p>
        </p:txBody>
      </p:sp>
      <p:sp>
        <p:nvSpPr>
          <p:cNvPr id="113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B4E9B7ED-66B1-4556-BBEC-681666479893}" type="slidenum">
              <a:rPr lang="es-CO" sz="1200" b="0" strike="noStrike" spc="-1">
                <a:latin typeface="Times New Roman"/>
              </a:rPr>
              <a:t>1</a:t>
            </a:fld>
            <a:endParaRPr lang="es-CO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77640" y="426600"/>
            <a:ext cx="6800400" cy="17852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377640" y="2502000"/>
            <a:ext cx="6800400" cy="62017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s-CO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77640" y="426600"/>
            <a:ext cx="6800400" cy="17852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77640" y="2502000"/>
            <a:ext cx="6800400" cy="6201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77640" y="426600"/>
            <a:ext cx="6800400" cy="17852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377640" y="2502000"/>
            <a:ext cx="3318480" cy="6201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3862440" y="2502000"/>
            <a:ext cx="3318480" cy="6201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77640" y="426600"/>
            <a:ext cx="6800400" cy="17852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377640" y="426600"/>
            <a:ext cx="6800400" cy="8276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s-CO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77640" y="426600"/>
            <a:ext cx="6800400" cy="17852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377640" y="2502000"/>
            <a:ext cx="3318480" cy="2958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3862440" y="2502000"/>
            <a:ext cx="3318480" cy="6201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377640" y="5741640"/>
            <a:ext cx="3318480" cy="2958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77640" y="426600"/>
            <a:ext cx="6800400" cy="17852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377640" y="2502000"/>
            <a:ext cx="3318480" cy="6201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3862440" y="2502000"/>
            <a:ext cx="3318480" cy="2958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3862440" y="5741640"/>
            <a:ext cx="3318480" cy="2958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77640" y="426600"/>
            <a:ext cx="6800400" cy="17852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377640" y="2502000"/>
            <a:ext cx="3318480" cy="2958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3862440" y="2502000"/>
            <a:ext cx="3318480" cy="2958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377640" y="5741640"/>
            <a:ext cx="6800400" cy="2958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77640" y="426600"/>
            <a:ext cx="6800400" cy="17852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377640" y="2502000"/>
            <a:ext cx="6800400" cy="2958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377640" y="5741640"/>
            <a:ext cx="6800400" cy="2958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377640" y="426600"/>
            <a:ext cx="6800400" cy="17852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377640" y="2502000"/>
            <a:ext cx="3318480" cy="2958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3862440" y="2502000"/>
            <a:ext cx="3318480" cy="2958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377640" y="5741640"/>
            <a:ext cx="3318480" cy="2958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3862440" y="5741640"/>
            <a:ext cx="3318480" cy="2958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377640" y="426600"/>
            <a:ext cx="6800400" cy="17852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377640" y="2502000"/>
            <a:ext cx="2189520" cy="2958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2676960" y="2502000"/>
            <a:ext cx="2189520" cy="2958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4976280" y="2502000"/>
            <a:ext cx="2189520" cy="2958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377640" y="5741640"/>
            <a:ext cx="2189520" cy="2958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2676960" y="5741640"/>
            <a:ext cx="2189520" cy="2958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4976280" y="5741640"/>
            <a:ext cx="2189520" cy="2958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fld id="{14E73B46-350D-4C87-84D1-BD37F96D4ACA}" type="datetime">
              <a:rPr lang="es-CO" sz="1200" b="0" strike="noStrike" spc="-1">
                <a:solidFill>
                  <a:srgbClr val="8B8B8B"/>
                </a:solidFill>
                <a:latin typeface="Calibri"/>
              </a:rPr>
              <a:t>12/03/2025</a:t>
            </a:fld>
            <a:endParaRPr lang="es-CO" sz="1200" b="0" strike="noStrike" spc="-1"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/>
          <a:lstStyle/>
          <a:p>
            <a:endParaRPr lang="es-CO" sz="24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5F50E6FA-0C4D-43D6-9490-6464A7D681A7}" type="slidenum">
              <a:rPr lang="es-CO" sz="1200" b="0" strike="noStrike" spc="-1">
                <a:solidFill>
                  <a:srgbClr val="8B8B8B"/>
                </a:solidFill>
                <a:latin typeface="Calibri"/>
              </a:rPr>
              <a:t>‹Nº›</a:t>
            </a:fld>
            <a:endParaRPr lang="es-CO" sz="12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377640" y="426600"/>
            <a:ext cx="6800400" cy="178524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Pulse para editar el formato del texto de título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377640" y="2502000"/>
            <a:ext cx="6800400" cy="6201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Pulse para editar el formato de esquema del texto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1"/>
          <p:cNvGrpSpPr/>
          <p:nvPr/>
        </p:nvGrpSpPr>
        <p:grpSpPr>
          <a:xfrm>
            <a:off x="-967580" y="320"/>
            <a:ext cx="8524080" cy="10693080"/>
            <a:chOff x="-967680" y="360"/>
            <a:chExt cx="8524080" cy="10693080"/>
          </a:xfrm>
        </p:grpSpPr>
        <p:grpSp>
          <p:nvGrpSpPr>
            <p:cNvPr id="48" name="Group 2"/>
            <p:cNvGrpSpPr/>
            <p:nvPr/>
          </p:nvGrpSpPr>
          <p:grpSpPr>
            <a:xfrm>
              <a:off x="-967680" y="585720"/>
              <a:ext cx="3811320" cy="9264960"/>
              <a:chOff x="-967680" y="585720"/>
              <a:chExt cx="3811320" cy="9264960"/>
            </a:xfrm>
          </p:grpSpPr>
          <p:sp>
            <p:nvSpPr>
              <p:cNvPr id="49" name="CustomShape 3"/>
              <p:cNvSpPr/>
              <p:nvPr/>
            </p:nvSpPr>
            <p:spPr>
              <a:xfrm>
                <a:off x="418320" y="8763480"/>
                <a:ext cx="159840" cy="175320"/>
              </a:xfrm>
              <a:custGeom>
                <a:avLst/>
                <a:gdLst/>
                <a:ahLst/>
                <a:cxnLst/>
                <a:rect l="l" t="t" r="r" b="b"/>
                <a:pathLst>
                  <a:path w="157414" h="174905">
                    <a:moveTo>
                      <a:pt x="0" y="0"/>
                    </a:moveTo>
                    <a:lnTo>
                      <a:pt x="157414" y="0"/>
                    </a:lnTo>
                    <a:lnTo>
                      <a:pt x="157414" y="174904"/>
                    </a:lnTo>
                    <a:lnTo>
                      <a:pt x="0" y="174904"/>
                    </a:lnTo>
                    <a:lnTo>
                      <a:pt x="0" y="0"/>
                    </a:lnTo>
                    <a:close/>
                  </a:path>
                </a:pathLst>
              </a:custGeom>
              <a:blipFill rotWithShape="0">
                <a:blip r:embed="rId3"/>
                <a:stretch>
                  <a:fillRect/>
                </a:stretch>
              </a:blip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grpSp>
            <p:nvGrpSpPr>
              <p:cNvPr id="50" name="Group 4"/>
              <p:cNvGrpSpPr/>
              <p:nvPr/>
            </p:nvGrpSpPr>
            <p:grpSpPr>
              <a:xfrm>
                <a:off x="-967680" y="585720"/>
                <a:ext cx="3811320" cy="9264960"/>
                <a:chOff x="-967680" y="585720"/>
                <a:chExt cx="3811320" cy="9264960"/>
              </a:xfrm>
            </p:grpSpPr>
            <p:grpSp>
              <p:nvGrpSpPr>
                <p:cNvPr id="51" name="Group 5"/>
                <p:cNvGrpSpPr/>
                <p:nvPr/>
              </p:nvGrpSpPr>
              <p:grpSpPr>
                <a:xfrm>
                  <a:off x="-967680" y="585720"/>
                  <a:ext cx="2457360" cy="2303640"/>
                  <a:chOff x="-967680" y="585720"/>
                  <a:chExt cx="2457360" cy="2303640"/>
                </a:xfrm>
              </p:grpSpPr>
              <p:sp>
                <p:nvSpPr>
                  <p:cNvPr id="52" name="CustomShape 6"/>
                  <p:cNvSpPr/>
                  <p:nvPr/>
                </p:nvSpPr>
                <p:spPr>
                  <a:xfrm rot="5400000">
                    <a:off x="-256680" y="1176480"/>
                    <a:ext cx="2303640" cy="11217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0400" h="317500">
                        <a:moveTo>
                          <a:pt x="220252" y="298431"/>
                        </a:moveTo>
                        <a:cubicBezTo>
                          <a:pt x="254109" y="309945"/>
                          <a:pt x="292600" y="317500"/>
                          <a:pt x="330378" y="317500"/>
                        </a:cubicBezTo>
                        <a:cubicBezTo>
                          <a:pt x="368157" y="317500"/>
                          <a:pt x="404509" y="311023"/>
                          <a:pt x="438009" y="299509"/>
                        </a:cubicBezTo>
                        <a:cubicBezTo>
                          <a:pt x="438723" y="299150"/>
                          <a:pt x="439435" y="299150"/>
                          <a:pt x="440148" y="298790"/>
                        </a:cubicBezTo>
                        <a:cubicBezTo>
                          <a:pt x="565955" y="252735"/>
                          <a:pt x="658618" y="131121"/>
                          <a:pt x="660400" y="0"/>
                        </a:cubicBezTo>
                        <a:lnTo>
                          <a:pt x="660400" y="0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cubicBezTo>
                          <a:pt x="1782" y="131840"/>
                          <a:pt x="93019" y="253455"/>
                          <a:pt x="220252" y="298431"/>
                        </a:cubicBezTo>
                        <a:close/>
                      </a:path>
                    </a:pathLst>
                  </a:custGeom>
                  <a:solidFill>
                    <a:srgbClr val="78AB9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</p:sp>
              <p:sp>
                <p:nvSpPr>
                  <p:cNvPr id="53" name="CustomShape 7"/>
                  <p:cNvSpPr/>
                  <p:nvPr/>
                </p:nvSpPr>
                <p:spPr>
                  <a:xfrm rot="5400000">
                    <a:off x="-890640" y="508680"/>
                    <a:ext cx="2303640" cy="245736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</p:sp>
            </p:grpSp>
            <p:sp>
              <p:nvSpPr>
                <p:cNvPr id="54" name="CustomShape 8"/>
                <p:cNvSpPr/>
                <p:nvPr/>
              </p:nvSpPr>
              <p:spPr>
                <a:xfrm>
                  <a:off x="534960" y="7544880"/>
                  <a:ext cx="2308680" cy="23058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55" name="CustomShape 9"/>
                <p:cNvSpPr/>
                <p:nvPr/>
              </p:nvSpPr>
              <p:spPr>
                <a:xfrm>
                  <a:off x="534960" y="7544880"/>
                  <a:ext cx="2308680" cy="23058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56" name="CustomShape 10"/>
                <p:cNvSpPr/>
                <p:nvPr/>
              </p:nvSpPr>
              <p:spPr>
                <a:xfrm>
                  <a:off x="417240" y="7755480"/>
                  <a:ext cx="162000" cy="160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625" h="159625">
                      <a:moveTo>
                        <a:pt x="0" y="0"/>
                      </a:moveTo>
                      <a:lnTo>
                        <a:pt x="159625" y="0"/>
                      </a:lnTo>
                      <a:lnTo>
                        <a:pt x="159625" y="159625"/>
                      </a:lnTo>
                      <a:lnTo>
                        <a:pt x="0" y="1596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 rotWithShape="0"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57" name="CustomShape 11"/>
                <p:cNvSpPr/>
                <p:nvPr/>
              </p:nvSpPr>
              <p:spPr>
                <a:xfrm>
                  <a:off x="425520" y="8231040"/>
                  <a:ext cx="159840" cy="163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764" h="113427">
                      <a:moveTo>
                        <a:pt x="0" y="0"/>
                      </a:moveTo>
                      <a:lnTo>
                        <a:pt x="152764" y="0"/>
                      </a:lnTo>
                      <a:lnTo>
                        <a:pt x="152764" y="113427"/>
                      </a:lnTo>
                      <a:lnTo>
                        <a:pt x="0" y="11342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 rotWithShape="0"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58" name="CustomShape 12"/>
                <p:cNvSpPr/>
                <p:nvPr/>
              </p:nvSpPr>
              <p:spPr>
                <a:xfrm>
                  <a:off x="706680" y="7753320"/>
                  <a:ext cx="1090800" cy="16992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0" tIns="0" rIns="0" bIns="0"/>
                <a:lstStyle/>
                <a:p>
                  <a:pPr>
                    <a:lnSpc>
                      <a:spcPts val="1341"/>
                    </a:lnSpc>
                  </a:pPr>
                  <a:r>
                    <a:rPr lang="es-CO" sz="1200" b="0" strike="noStrike" spc="-1">
                      <a:solidFill>
                        <a:srgbClr val="000000"/>
                      </a:solidFill>
                      <a:latin typeface="Arial"/>
                    </a:rPr>
                    <a:t>3222163812</a:t>
                  </a:r>
                  <a:endParaRPr lang="es-CO" sz="1200" b="0" strike="noStrike" spc="-1">
                    <a:latin typeface="Arial"/>
                  </a:endParaRPr>
                </a:p>
              </p:txBody>
            </p:sp>
            <p:sp>
              <p:nvSpPr>
                <p:cNvPr id="59" name="CustomShape 13"/>
                <p:cNvSpPr/>
                <p:nvPr/>
              </p:nvSpPr>
              <p:spPr>
                <a:xfrm>
                  <a:off x="702720" y="8231040"/>
                  <a:ext cx="2023560" cy="34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0" tIns="0" rIns="0" bIns="0"/>
                <a:lstStyle/>
                <a:p>
                  <a:pPr>
                    <a:lnSpc>
                      <a:spcPts val="1341"/>
                    </a:lnSpc>
                  </a:pPr>
                  <a:r>
                    <a:rPr lang="es-CO" sz="1200" b="0" strike="noStrike" spc="-1">
                      <a:solidFill>
                        <a:srgbClr val="000000"/>
                      </a:solidFill>
                      <a:latin typeface="Arial"/>
                    </a:rPr>
                    <a:t>michaelebuitrago03@gmail.com</a:t>
                  </a:r>
                  <a:endParaRPr lang="es-CO" sz="1200" b="0" strike="noStrike" spc="-1">
                    <a:latin typeface="Arial"/>
                  </a:endParaRPr>
                </a:p>
              </p:txBody>
            </p:sp>
            <p:sp>
              <p:nvSpPr>
                <p:cNvPr id="60" name="CustomShape 14"/>
                <p:cNvSpPr/>
                <p:nvPr/>
              </p:nvSpPr>
              <p:spPr>
                <a:xfrm>
                  <a:off x="505800" y="7176240"/>
                  <a:ext cx="2317680" cy="26964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0" tIns="0" rIns="0" bIns="0"/>
                <a:lstStyle/>
                <a:p>
                  <a:pPr algn="ctr">
                    <a:lnSpc>
                      <a:spcPts val="2126"/>
                    </a:lnSpc>
                  </a:pPr>
                  <a:r>
                    <a:rPr lang="es-CO" sz="1700" b="1" strike="noStrike" spc="-1">
                      <a:solidFill>
                        <a:srgbClr val="000000"/>
                      </a:solidFill>
                      <a:latin typeface="Arial"/>
                      <a:ea typeface="Tahoma"/>
                    </a:rPr>
                    <a:t>Contacto</a:t>
                  </a:r>
                  <a:endParaRPr lang="es-CO" sz="1700" b="0" strike="noStrike" spc="-1">
                    <a:latin typeface="Arial"/>
                  </a:endParaRPr>
                </a:p>
              </p:txBody>
            </p:sp>
            <p:sp>
              <p:nvSpPr>
                <p:cNvPr id="61" name="CustomShape 15"/>
                <p:cNvSpPr/>
                <p:nvPr/>
              </p:nvSpPr>
              <p:spPr>
                <a:xfrm>
                  <a:off x="706680" y="8763480"/>
                  <a:ext cx="1755720" cy="34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0" tIns="0" rIns="0" bIns="0"/>
                <a:lstStyle/>
                <a:p>
                  <a:pPr>
                    <a:lnSpc>
                      <a:spcPts val="1341"/>
                    </a:lnSpc>
                  </a:pPr>
                  <a:r>
                    <a:rPr lang="es-CO" sz="1200" b="0" strike="noStrike" spc="-1" dirty="0" smtClean="0">
                      <a:latin typeface="Arial"/>
                    </a:rPr>
                    <a:t>Pensilvania caldas</a:t>
                  </a:r>
                  <a:endParaRPr lang="es-CO" sz="1200" b="0" strike="noStrike" spc="-1" dirty="0">
                    <a:latin typeface="Arial"/>
                  </a:endParaRPr>
                </a:p>
              </p:txBody>
            </p:sp>
          </p:grpSp>
        </p:grpSp>
        <p:sp>
          <p:nvSpPr>
            <p:cNvPr id="62" name="CustomShape 16"/>
            <p:cNvSpPr/>
            <p:nvPr/>
          </p:nvSpPr>
          <p:spPr>
            <a:xfrm>
              <a:off x="3200760" y="360"/>
              <a:ext cx="4355640" cy="10693080"/>
            </a:xfrm>
            <a:custGeom>
              <a:avLst/>
              <a:gdLst/>
              <a:ahLst/>
              <a:cxnLst/>
              <a:rect l="l" t="t" r="r" b="b"/>
              <a:pathLst>
                <a:path w="1625811" h="3967931">
                  <a:moveTo>
                    <a:pt x="0" y="0"/>
                  </a:moveTo>
                  <a:lnTo>
                    <a:pt x="1625811" y="0"/>
                  </a:lnTo>
                  <a:lnTo>
                    <a:pt x="1625811" y="3967931"/>
                  </a:lnTo>
                  <a:lnTo>
                    <a:pt x="0" y="3967931"/>
                  </a:lnTo>
                  <a:close/>
                </a:path>
              </a:pathLst>
            </a:custGeom>
            <a:solidFill>
              <a:srgbClr val="F1F6F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3" name="Imagen 62"/>
            <p:cNvPicPr/>
            <p:nvPr/>
          </p:nvPicPr>
          <p:blipFill>
            <a:blip r:embed="rId6"/>
            <a:srcRect t="11424" b="5726"/>
            <a:stretch/>
          </p:blipFill>
          <p:spPr>
            <a:xfrm>
              <a:off x="504000" y="720000"/>
              <a:ext cx="2088000" cy="201600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64" name="CustomShape 17"/>
          <p:cNvSpPr/>
          <p:nvPr/>
        </p:nvSpPr>
        <p:spPr>
          <a:xfrm>
            <a:off x="3270960" y="-216000"/>
            <a:ext cx="2286000" cy="2294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5" name="CustomShape 18"/>
          <p:cNvSpPr/>
          <p:nvPr/>
        </p:nvSpPr>
        <p:spPr>
          <a:xfrm>
            <a:off x="3240000" y="2923920"/>
            <a:ext cx="2273760" cy="2294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6" name="CustomShape 19"/>
          <p:cNvSpPr/>
          <p:nvPr/>
        </p:nvSpPr>
        <p:spPr>
          <a:xfrm>
            <a:off x="3168360" y="7311960"/>
            <a:ext cx="2325240" cy="2294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7" name="CustomShape 20"/>
          <p:cNvSpPr/>
          <p:nvPr/>
        </p:nvSpPr>
        <p:spPr>
          <a:xfrm>
            <a:off x="3194280" y="970200"/>
            <a:ext cx="4391280" cy="487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lang="es-CO" sz="3200" b="1" strike="noStrike" spc="-1">
                <a:solidFill>
                  <a:srgbClr val="000000"/>
                </a:solidFill>
                <a:latin typeface="Arial"/>
                <a:ea typeface="Tahoma"/>
              </a:rPr>
              <a:t>Dayana Michaele</a:t>
            </a:r>
            <a:endParaRPr lang="es-CO" sz="3200" b="0" strike="noStrike" spc="-1">
              <a:latin typeface="Arial"/>
            </a:endParaRPr>
          </a:p>
        </p:txBody>
      </p:sp>
      <p:sp>
        <p:nvSpPr>
          <p:cNvPr id="68" name="CustomShape 21"/>
          <p:cNvSpPr/>
          <p:nvPr/>
        </p:nvSpPr>
        <p:spPr>
          <a:xfrm>
            <a:off x="3075120" y="1447560"/>
            <a:ext cx="4503240" cy="487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lang="es-CO" sz="3200" b="1" strike="noStrike" spc="-1">
                <a:solidFill>
                  <a:srgbClr val="000000"/>
                </a:solidFill>
                <a:latin typeface="Arial"/>
                <a:ea typeface="Tahoma"/>
              </a:rPr>
              <a:t>Buitrago Rincón</a:t>
            </a:r>
            <a:endParaRPr lang="es-CO" sz="3200" b="0" strike="noStrike" spc="-1">
              <a:latin typeface="Arial"/>
            </a:endParaRPr>
          </a:p>
        </p:txBody>
      </p:sp>
      <p:sp>
        <p:nvSpPr>
          <p:cNvPr id="69" name="CustomShape 22"/>
          <p:cNvSpPr/>
          <p:nvPr/>
        </p:nvSpPr>
        <p:spPr>
          <a:xfrm>
            <a:off x="362160" y="3211200"/>
            <a:ext cx="2611800" cy="3178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ts val="2126"/>
              </a:lnSpc>
            </a:pPr>
            <a:r>
              <a:rPr lang="es-CO" sz="1700" b="1" strike="noStrike" spc="-1">
                <a:solidFill>
                  <a:srgbClr val="000000"/>
                </a:solidFill>
                <a:latin typeface="Arial"/>
                <a:ea typeface="Tahoma"/>
              </a:rPr>
              <a:t>Perfil Profesional</a:t>
            </a:r>
            <a:endParaRPr lang="es-CO" sz="1700" b="0" strike="noStrike" spc="-1">
              <a:latin typeface="Arial"/>
            </a:endParaRPr>
          </a:p>
          <a:p>
            <a:pPr algn="just">
              <a:lnSpc>
                <a:spcPts val="1341"/>
              </a:lnSpc>
            </a:pPr>
            <a:endParaRPr lang="es-CO" sz="1700" b="0" strike="noStrike" spc="-1"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s-CO" sz="1200" b="0" strike="noStrike" spc="-1">
                <a:solidFill>
                  <a:srgbClr val="000000"/>
                </a:solidFill>
                <a:latin typeface="Arial"/>
                <a:ea typeface="Tahoma"/>
              </a:rPr>
              <a:t>Técnica en manejo  Ambiental.</a:t>
            </a:r>
            <a:endParaRPr lang="es-CO" sz="1200" b="0" strike="noStrike" spc="-1"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s-CO" sz="1200" b="0" strike="noStrike" spc="-1">
                <a:solidFill>
                  <a:srgbClr val="000000"/>
                </a:solidFill>
                <a:latin typeface="Arial"/>
                <a:ea typeface="Tahoma"/>
              </a:rPr>
              <a:t>Cuento con habilidades para la realización de análisis comunitarios de tipo ambiental así como en el diseño y ejecución de estrategias de sensibilización y formación sobre el uso sostenible y eficiente de los recursos naturales.</a:t>
            </a:r>
            <a:endParaRPr lang="es-CO" sz="1200" b="0" strike="noStrike" spc="-1"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s-CO" sz="1200" b="0" strike="noStrike" spc="-1"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s-CO" sz="1200" b="0" strike="noStrike" spc="-1">
                <a:solidFill>
                  <a:srgbClr val="000000"/>
                </a:solidFill>
                <a:latin typeface="Arial"/>
                <a:ea typeface="Tahoma"/>
              </a:rPr>
              <a:t>Con conocimientos en levantamiento de bases de datos, estrategias de restauración ecológica y prácticas agroforestales. Alta capacidad de trabajo en equipo y adaptabilidad al cambio.</a:t>
            </a:r>
            <a:endParaRPr lang="es-CO" sz="1200" b="0" strike="noStrike" spc="-1">
              <a:latin typeface="Arial"/>
            </a:endParaRPr>
          </a:p>
        </p:txBody>
      </p:sp>
      <p:sp>
        <p:nvSpPr>
          <p:cNvPr id="70" name="CustomShape 23"/>
          <p:cNvSpPr/>
          <p:nvPr/>
        </p:nvSpPr>
        <p:spPr>
          <a:xfrm>
            <a:off x="3239280" y="2270160"/>
            <a:ext cx="4338720" cy="398520"/>
          </a:xfrm>
          <a:custGeom>
            <a:avLst/>
            <a:gdLst/>
            <a:ahLst/>
            <a:cxnLst/>
            <a:rect l="l" t="t" r="r" b="b"/>
            <a:pathLst>
              <a:path w="1534825" h="231308">
                <a:moveTo>
                  <a:pt x="0" y="0"/>
                </a:moveTo>
                <a:lnTo>
                  <a:pt x="1534825" y="0"/>
                </a:lnTo>
                <a:lnTo>
                  <a:pt x="1534825" y="231308"/>
                </a:lnTo>
                <a:lnTo>
                  <a:pt x="0" y="231308"/>
                </a:lnTo>
                <a:close/>
              </a:path>
            </a:pathLst>
          </a:custGeom>
          <a:solidFill>
            <a:srgbClr val="78AB9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1" name="CustomShape 24"/>
          <p:cNvSpPr/>
          <p:nvPr/>
        </p:nvSpPr>
        <p:spPr>
          <a:xfrm>
            <a:off x="3229920" y="2331720"/>
            <a:ext cx="4348080" cy="269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ts val="2126"/>
              </a:lnSpc>
            </a:pPr>
            <a:r>
              <a:rPr lang="es-CO" sz="1700" b="1" strike="noStrike" spc="117">
                <a:solidFill>
                  <a:srgbClr val="FFFFFF"/>
                </a:solidFill>
                <a:latin typeface="Arial"/>
                <a:ea typeface="Tahoma"/>
              </a:rPr>
              <a:t>Experiencia Laboral</a:t>
            </a:r>
            <a:endParaRPr lang="es-CO" sz="1700" b="0" strike="noStrike" spc="-1">
              <a:latin typeface="Arial"/>
            </a:endParaRPr>
          </a:p>
        </p:txBody>
      </p:sp>
      <p:grpSp>
        <p:nvGrpSpPr>
          <p:cNvPr id="72" name="Group 25"/>
          <p:cNvGrpSpPr/>
          <p:nvPr/>
        </p:nvGrpSpPr>
        <p:grpSpPr>
          <a:xfrm>
            <a:off x="3390120" y="2972520"/>
            <a:ext cx="3863880" cy="1544040"/>
            <a:chOff x="3390120" y="2972520"/>
            <a:chExt cx="3863880" cy="1544040"/>
          </a:xfrm>
        </p:grpSpPr>
        <p:sp>
          <p:nvSpPr>
            <p:cNvPr id="73" name="CustomShape 26"/>
            <p:cNvSpPr/>
            <p:nvPr/>
          </p:nvSpPr>
          <p:spPr>
            <a:xfrm>
              <a:off x="3398400" y="3213360"/>
              <a:ext cx="2794320" cy="42732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/>
            <a:lstStyle/>
            <a:p>
              <a:pPr algn="just">
                <a:lnSpc>
                  <a:spcPct val="100000"/>
                </a:lnSpc>
              </a:pPr>
              <a:r>
                <a:rPr lang="es-CO" sz="1200" b="1" strike="noStrike" spc="-1">
                  <a:solidFill>
                    <a:srgbClr val="000000"/>
                  </a:solidFill>
                  <a:latin typeface="Arial"/>
                </a:rPr>
                <a:t>Practicante Ambiental</a:t>
              </a:r>
              <a:endParaRPr lang="es-CO" sz="1200" b="0" strike="noStrike" spc="-1">
                <a:latin typeface="Arial"/>
              </a:endParaRPr>
            </a:p>
            <a:p>
              <a:pPr algn="just">
                <a:lnSpc>
                  <a:spcPct val="100000"/>
                </a:lnSpc>
              </a:pPr>
              <a:r>
                <a:rPr lang="es-CO" sz="1200" b="1" strike="noStrike" spc="-1">
                  <a:solidFill>
                    <a:srgbClr val="000000"/>
                  </a:solidFill>
                  <a:latin typeface="Arial"/>
                </a:rPr>
                <a:t>Organización FUNDECOS</a:t>
              </a:r>
              <a:endParaRPr lang="es-CO" sz="1200" b="0" strike="noStrike" spc="-1">
                <a:latin typeface="Arial"/>
              </a:endParaRPr>
            </a:p>
          </p:txBody>
        </p:sp>
        <p:sp>
          <p:nvSpPr>
            <p:cNvPr id="74" name="CustomShape 27"/>
            <p:cNvSpPr/>
            <p:nvPr/>
          </p:nvSpPr>
          <p:spPr>
            <a:xfrm>
              <a:off x="3390120" y="2972520"/>
              <a:ext cx="1306080" cy="17712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/>
            <a:lstStyle/>
            <a:p>
              <a:pPr>
                <a:lnSpc>
                  <a:spcPts val="1403"/>
                </a:lnSpc>
              </a:pPr>
              <a:r>
                <a:rPr lang="es-CO" sz="12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10/2023 - 11/2023</a:t>
              </a:r>
              <a:endParaRPr lang="es-CO" sz="1200" b="0" strike="noStrike" spc="-1">
                <a:latin typeface="Arial"/>
              </a:endParaRPr>
            </a:p>
          </p:txBody>
        </p:sp>
        <p:sp>
          <p:nvSpPr>
            <p:cNvPr id="75" name="CustomShape 28"/>
            <p:cNvSpPr/>
            <p:nvPr/>
          </p:nvSpPr>
          <p:spPr>
            <a:xfrm>
              <a:off x="3390120" y="3629520"/>
              <a:ext cx="3863880" cy="88704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/>
            <a:lstStyle/>
            <a:p>
              <a:pPr algn="just">
                <a:lnSpc>
                  <a:spcPts val="1624"/>
                </a:lnSpc>
              </a:pPr>
              <a:r>
                <a:rPr lang="es-CO" sz="1200" b="1" i="1" strike="noStrike" spc="-1" dirty="0">
                  <a:solidFill>
                    <a:srgbClr val="000000"/>
                  </a:solidFill>
                  <a:latin typeface="Arial"/>
                  <a:ea typeface="DejaVu Sans"/>
                </a:rPr>
                <a:t>Samaná - Caldas.</a:t>
              </a:r>
              <a:endParaRPr lang="es-CO" sz="1200" b="1" strike="noStrike" spc="-1" dirty="0">
                <a:latin typeface="Arial"/>
              </a:endParaRPr>
            </a:p>
            <a:p>
              <a:pPr algn="just">
                <a:lnSpc>
                  <a:spcPts val="1624"/>
                </a:lnSpc>
              </a:pPr>
              <a:endParaRPr lang="es-CO" sz="1200" b="0" strike="noStrike" spc="-1" dirty="0">
                <a:latin typeface="Arial"/>
              </a:endParaRPr>
            </a:p>
            <a:p>
              <a:pPr marL="194400" lvl="1" indent="-95400" algn="just">
                <a:lnSpc>
                  <a:spcPct val="100000"/>
                </a:lnSpc>
                <a:buClr>
                  <a:srgbClr val="000000"/>
                </a:buClr>
                <a:buFont typeface="Arial"/>
                <a:buChar char="•"/>
              </a:pPr>
              <a:r>
                <a:rPr lang="es-CO" sz="1200" b="0" strike="noStrike" spc="-1" dirty="0">
                  <a:solidFill>
                    <a:srgbClr val="000000"/>
                  </a:solidFill>
                  <a:latin typeface="Arial"/>
                  <a:ea typeface="DejaVu Sans"/>
                </a:rPr>
                <a:t>Capacitaciones y charlas para el cuidado y protección de los recursos naturales.</a:t>
              </a:r>
              <a:endParaRPr lang="es-CO" sz="1200" b="0" strike="noStrike" spc="-1" dirty="0">
                <a:latin typeface="Arial"/>
              </a:endParaRPr>
            </a:p>
            <a:p>
              <a:pPr marL="194400" lvl="1" indent="-95400" algn="just">
                <a:lnSpc>
                  <a:spcPct val="100000"/>
                </a:lnSpc>
                <a:buClr>
                  <a:srgbClr val="000000"/>
                </a:buClr>
                <a:buFont typeface="Arial"/>
                <a:buChar char="•"/>
              </a:pPr>
              <a:r>
                <a:rPr lang="es-CO" sz="1200" b="0" strike="noStrike" spc="-1" dirty="0">
                  <a:solidFill>
                    <a:srgbClr val="000000"/>
                  </a:solidFill>
                  <a:latin typeface="Arial"/>
                  <a:ea typeface="DejaVu Sans"/>
                </a:rPr>
                <a:t>Manejo de base de datos.</a:t>
              </a:r>
              <a:endParaRPr lang="es-CO" sz="1200" b="0" strike="noStrike" spc="-1" dirty="0">
                <a:latin typeface="Arial"/>
              </a:endParaRPr>
            </a:p>
            <a:p>
              <a:pPr marL="194400" lvl="1" indent="-95400" algn="just">
                <a:lnSpc>
                  <a:spcPct val="100000"/>
                </a:lnSpc>
                <a:buClr>
                  <a:srgbClr val="000000"/>
                </a:buClr>
                <a:buFont typeface="Arial"/>
                <a:buChar char="•"/>
              </a:pPr>
              <a:r>
                <a:rPr lang="es-CO" sz="1200" b="0" strike="noStrike" spc="-1" dirty="0">
                  <a:solidFill>
                    <a:srgbClr val="000000"/>
                  </a:solidFill>
                  <a:latin typeface="Arial"/>
                  <a:ea typeface="DejaVu Sans"/>
                </a:rPr>
                <a:t>Planeación de procesos de reforestación con comunidades.</a:t>
              </a:r>
              <a:endParaRPr lang="es-CO" sz="1200" b="0" strike="noStrike" spc="-1" dirty="0">
                <a:latin typeface="Arial"/>
              </a:endParaRPr>
            </a:p>
            <a:p>
              <a:pPr marL="194400" lvl="1" indent="-95400" algn="just">
                <a:lnSpc>
                  <a:spcPct val="100000"/>
                </a:lnSpc>
                <a:buClr>
                  <a:srgbClr val="000000"/>
                </a:buClr>
                <a:buFont typeface="Arial"/>
                <a:buChar char="•"/>
              </a:pPr>
              <a:r>
                <a:rPr lang="es-CO" sz="1200" b="0" strike="noStrike" spc="-1" dirty="0">
                  <a:solidFill>
                    <a:srgbClr val="000000"/>
                  </a:solidFill>
                  <a:latin typeface="Arial"/>
                  <a:ea typeface="DejaVu Sans"/>
                </a:rPr>
                <a:t>Elaboración de informes de seguimiento.</a:t>
              </a:r>
              <a:endParaRPr lang="es-CO" sz="1200" b="0" strike="noStrike" spc="-1" dirty="0">
                <a:latin typeface="Arial"/>
              </a:endParaRPr>
            </a:p>
            <a:p>
              <a:pPr marL="194400" lvl="1" indent="-95400" algn="just">
                <a:lnSpc>
                  <a:spcPct val="100000"/>
                </a:lnSpc>
                <a:buClr>
                  <a:srgbClr val="000000"/>
                </a:buClr>
                <a:buFont typeface="Arial"/>
                <a:buChar char="•"/>
              </a:pPr>
              <a:r>
                <a:rPr lang="es-CO" sz="1200" b="0" strike="noStrike" spc="-1" dirty="0">
                  <a:solidFill>
                    <a:srgbClr val="000000"/>
                  </a:solidFill>
                  <a:latin typeface="Arial"/>
                  <a:ea typeface="DejaVu Sans"/>
                </a:rPr>
                <a:t>Ejecución y seguimiento de proyectos ambientales.</a:t>
              </a:r>
              <a:endParaRPr lang="es-CO" sz="1200" b="0" strike="noStrike" spc="-1" dirty="0">
                <a:latin typeface="Arial"/>
              </a:endParaRPr>
            </a:p>
            <a:p>
              <a:pPr marL="98280" algn="just">
                <a:lnSpc>
                  <a:spcPct val="100000"/>
                </a:lnSpc>
              </a:pPr>
              <a:endParaRPr lang="es-CO" sz="1200" b="0" strike="noStrike" spc="-1" dirty="0">
                <a:latin typeface="Arial"/>
              </a:endParaRPr>
            </a:p>
          </p:txBody>
        </p:sp>
      </p:grpSp>
      <p:grpSp>
        <p:nvGrpSpPr>
          <p:cNvPr id="76" name="Group 29"/>
          <p:cNvGrpSpPr/>
          <p:nvPr/>
        </p:nvGrpSpPr>
        <p:grpSpPr>
          <a:xfrm>
            <a:off x="3402000" y="5944680"/>
            <a:ext cx="3792240" cy="1822860"/>
            <a:chOff x="3402000" y="5944680"/>
            <a:chExt cx="3792240" cy="1822860"/>
          </a:xfrm>
        </p:grpSpPr>
        <p:sp>
          <p:nvSpPr>
            <p:cNvPr id="77" name="CustomShape 30"/>
            <p:cNvSpPr/>
            <p:nvPr/>
          </p:nvSpPr>
          <p:spPr>
            <a:xfrm>
              <a:off x="3402000" y="6184440"/>
              <a:ext cx="2847600" cy="42732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/>
            <a:lstStyle/>
            <a:p>
              <a:pPr algn="just">
                <a:lnSpc>
                  <a:spcPct val="100000"/>
                </a:lnSpc>
              </a:pPr>
              <a:r>
                <a:rPr lang="es-CO" sz="1200" b="1" strike="noStrike" spc="-1" dirty="0">
                  <a:solidFill>
                    <a:srgbClr val="000000"/>
                  </a:solidFill>
                  <a:latin typeface="Arial"/>
                </a:rPr>
                <a:t>Auxiliar de empaque y despacho de aguacate.</a:t>
              </a:r>
              <a:endParaRPr lang="es-CO" sz="1200" b="0" strike="noStrike" spc="-1" dirty="0">
                <a:latin typeface="Arial"/>
              </a:endParaRPr>
            </a:p>
            <a:p>
              <a:pPr algn="just">
                <a:lnSpc>
                  <a:spcPct val="100000"/>
                </a:lnSpc>
              </a:pPr>
              <a:r>
                <a:rPr lang="es-CO" sz="1200" b="1" strike="noStrike" spc="-1" dirty="0">
                  <a:solidFill>
                    <a:srgbClr val="000000"/>
                  </a:solidFill>
                  <a:latin typeface="Arial"/>
                </a:rPr>
                <a:t>GLOBAL HASS.</a:t>
              </a:r>
              <a:endParaRPr lang="es-CO" sz="1200" b="0" strike="noStrike" spc="-1" dirty="0">
                <a:latin typeface="Arial"/>
              </a:endParaRPr>
            </a:p>
            <a:p>
              <a:pPr algn="just">
                <a:lnSpc>
                  <a:spcPct val="100000"/>
                </a:lnSpc>
              </a:pPr>
              <a:endParaRPr lang="es-CO" sz="1200" b="0" strike="noStrike" spc="-1" dirty="0">
                <a:latin typeface="Arial"/>
              </a:endParaRPr>
            </a:p>
          </p:txBody>
        </p:sp>
        <p:sp>
          <p:nvSpPr>
            <p:cNvPr id="78" name="CustomShape 31"/>
            <p:cNvSpPr/>
            <p:nvPr/>
          </p:nvSpPr>
          <p:spPr>
            <a:xfrm>
              <a:off x="3409200" y="5944680"/>
              <a:ext cx="1330920" cy="17712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/>
            <a:lstStyle/>
            <a:p>
              <a:pPr>
                <a:lnSpc>
                  <a:spcPts val="1403"/>
                </a:lnSpc>
              </a:pPr>
              <a:r>
                <a:rPr lang="es-CO" sz="1200" b="0" strike="noStrike" spc="-1" dirty="0" smtClean="0">
                  <a:solidFill>
                    <a:srgbClr val="000000"/>
                  </a:solidFill>
                  <a:latin typeface="Arial"/>
                  <a:ea typeface="DejaVu Sans"/>
                </a:rPr>
                <a:t>03/2019 </a:t>
              </a:r>
              <a:r>
                <a:rPr lang="es-CO" sz="1200" b="0" strike="noStrike" spc="-1" dirty="0">
                  <a:solidFill>
                    <a:srgbClr val="000000"/>
                  </a:solidFill>
                  <a:latin typeface="Arial"/>
                  <a:ea typeface="DejaVu Sans"/>
                </a:rPr>
                <a:t>- 06/2019</a:t>
              </a:r>
              <a:endParaRPr lang="es-CO" sz="1200" b="0" strike="noStrike" spc="-1" dirty="0">
                <a:latin typeface="Arial"/>
              </a:endParaRPr>
            </a:p>
          </p:txBody>
        </p:sp>
        <p:sp>
          <p:nvSpPr>
            <p:cNvPr id="79" name="CustomShape 32"/>
            <p:cNvSpPr/>
            <p:nvPr/>
          </p:nvSpPr>
          <p:spPr>
            <a:xfrm>
              <a:off x="3409200" y="7022340"/>
              <a:ext cx="3785040" cy="7452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/>
            <a:lstStyle/>
            <a:p>
              <a:pPr algn="just">
                <a:lnSpc>
                  <a:spcPts val="1624"/>
                </a:lnSpc>
              </a:pPr>
              <a:r>
                <a:rPr lang="es-CO" sz="1200" b="1" i="1" strike="noStrike" spc="-1" dirty="0">
                  <a:solidFill>
                    <a:srgbClr val="000000"/>
                  </a:solidFill>
                  <a:latin typeface="Arial"/>
                  <a:ea typeface="DejaVu Sans"/>
                </a:rPr>
                <a:t>Marquetalia - Caldas.</a:t>
              </a:r>
              <a:endParaRPr lang="es-CO" sz="1200" b="1" strike="noStrike" spc="-1" dirty="0">
                <a:latin typeface="Arial"/>
              </a:endParaRPr>
            </a:p>
            <a:p>
              <a:pPr algn="just">
                <a:lnSpc>
                  <a:spcPts val="1624"/>
                </a:lnSpc>
              </a:pPr>
              <a:endParaRPr lang="es-CO" sz="1200" b="0" strike="noStrike" spc="-1" dirty="0">
                <a:latin typeface="Arial"/>
              </a:endParaRPr>
            </a:p>
            <a:p>
              <a:pPr marL="194400" lvl="1" indent="-95400" algn="just">
                <a:lnSpc>
                  <a:spcPct val="100000"/>
                </a:lnSpc>
                <a:buClr>
                  <a:srgbClr val="000000"/>
                </a:buClr>
                <a:buFont typeface="Arial"/>
                <a:buChar char="•"/>
              </a:pPr>
              <a:r>
                <a:rPr lang="es-CO" sz="1200" b="0" strike="noStrike" spc="-1" dirty="0">
                  <a:solidFill>
                    <a:srgbClr val="000000"/>
                  </a:solidFill>
                  <a:latin typeface="Arial"/>
                  <a:ea typeface="DejaVu Sans"/>
                </a:rPr>
                <a:t>Trabajo con equipos interdisciplinarios.</a:t>
              </a:r>
              <a:endParaRPr lang="es-CO" sz="1200" b="0" strike="noStrike" spc="-1" dirty="0">
                <a:latin typeface="Arial"/>
              </a:endParaRPr>
            </a:p>
            <a:p>
              <a:pPr marL="194400" lvl="1" indent="-95400" algn="just">
                <a:lnSpc>
                  <a:spcPct val="100000"/>
                </a:lnSpc>
                <a:buClr>
                  <a:srgbClr val="000000"/>
                </a:buClr>
                <a:buFont typeface="Arial"/>
                <a:buChar char="•"/>
              </a:pPr>
              <a:r>
                <a:rPr lang="es-CO" sz="1200" b="0" strike="noStrike" spc="-1" dirty="0">
                  <a:solidFill>
                    <a:srgbClr val="000000"/>
                  </a:solidFill>
                  <a:latin typeface="Arial"/>
                  <a:ea typeface="DejaVu Sans"/>
                </a:rPr>
                <a:t>Elaboración de inventario de activos.</a:t>
              </a:r>
              <a:endParaRPr lang="es-CO" sz="1200" b="0" strike="noStrike" spc="-1" dirty="0">
                <a:latin typeface="Arial"/>
              </a:endParaRPr>
            </a:p>
            <a:p>
              <a:pPr marL="194400" lvl="1" indent="-95400" algn="just">
                <a:lnSpc>
                  <a:spcPct val="100000"/>
                </a:lnSpc>
                <a:buClr>
                  <a:srgbClr val="000000"/>
                </a:buClr>
                <a:buFont typeface="Arial"/>
                <a:buChar char="•"/>
              </a:pPr>
              <a:r>
                <a:rPr lang="es-CO" sz="1200" b="0" strike="noStrike" spc="-1" dirty="0">
                  <a:solidFill>
                    <a:srgbClr val="000000"/>
                  </a:solidFill>
                  <a:latin typeface="Arial"/>
                  <a:ea typeface="DejaVu Sans"/>
                </a:rPr>
                <a:t>Asesoría sobre prácticas agro-ecológicas (aguacate).</a:t>
              </a:r>
              <a:endParaRPr lang="es-CO" sz="1200" b="0" strike="noStrike" spc="-1" dirty="0">
                <a:latin typeface="Arial"/>
              </a:endParaRPr>
            </a:p>
            <a:p>
              <a:pPr marL="194400" lvl="1" indent="-95400" algn="just">
                <a:lnSpc>
                  <a:spcPct val="100000"/>
                </a:lnSpc>
                <a:buClr>
                  <a:srgbClr val="000000"/>
                </a:buClr>
                <a:buFont typeface="Arial"/>
                <a:buChar char="•"/>
              </a:pPr>
              <a:r>
                <a:rPr lang="es-CO" sz="1200" b="0" strike="noStrike" spc="-1" dirty="0">
                  <a:solidFill>
                    <a:srgbClr val="000000"/>
                  </a:solidFill>
                  <a:latin typeface="Arial"/>
                  <a:ea typeface="DejaVu Sans"/>
                </a:rPr>
                <a:t>Inventario de cosechas y subproductos asociados. </a:t>
              </a:r>
              <a:endParaRPr lang="es-CO" sz="1200" b="0" strike="noStrike" spc="-1" dirty="0">
                <a:latin typeface="Arial"/>
              </a:endParaRPr>
            </a:p>
            <a:p>
              <a:pPr marL="194400" lvl="1" indent="-95400" algn="just">
                <a:lnSpc>
                  <a:spcPct val="100000"/>
                </a:lnSpc>
                <a:buClr>
                  <a:srgbClr val="000000"/>
                </a:buClr>
                <a:buFont typeface="Arial"/>
                <a:buChar char="•"/>
              </a:pPr>
              <a:r>
                <a:rPr lang="es-CO" sz="1200" b="0" strike="noStrike" spc="-1" dirty="0">
                  <a:solidFill>
                    <a:srgbClr val="000000"/>
                  </a:solidFill>
                  <a:latin typeface="Arial"/>
                  <a:ea typeface="DejaVu Sans"/>
                </a:rPr>
                <a:t>Apoyo en manejo al cliente.</a:t>
              </a:r>
              <a:endParaRPr lang="es-CO" sz="1200" b="0" strike="noStrike" spc="-1" dirty="0">
                <a:latin typeface="Arial"/>
              </a:endParaRPr>
            </a:p>
            <a:p>
              <a:pPr marL="98280" algn="just">
                <a:lnSpc>
                  <a:spcPct val="100000"/>
                </a:lnSpc>
              </a:pPr>
              <a:endParaRPr lang="es-CO" sz="1200" b="0" strike="noStrike" spc="-1" dirty="0">
                <a:latin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CustomShape 1"/>
          <p:cNvSpPr/>
          <p:nvPr/>
        </p:nvSpPr>
        <p:spPr>
          <a:xfrm>
            <a:off x="3240000" y="0"/>
            <a:ext cx="4316040" cy="10693080"/>
          </a:xfrm>
          <a:custGeom>
            <a:avLst/>
            <a:gdLst/>
            <a:ahLst/>
            <a:cxnLst/>
            <a:rect l="l" t="t" r="r" b="b"/>
            <a:pathLst>
              <a:path w="1625811" h="3967931">
                <a:moveTo>
                  <a:pt x="0" y="0"/>
                </a:moveTo>
                <a:lnTo>
                  <a:pt x="1625811" y="0"/>
                </a:lnTo>
                <a:lnTo>
                  <a:pt x="1625811" y="3967931"/>
                </a:lnTo>
                <a:lnTo>
                  <a:pt x="0" y="3967931"/>
                </a:lnTo>
                <a:close/>
              </a:path>
            </a:pathLst>
          </a:custGeom>
          <a:solidFill>
            <a:srgbClr val="F1F6F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1" name="CustomShape 2"/>
          <p:cNvSpPr/>
          <p:nvPr/>
        </p:nvSpPr>
        <p:spPr>
          <a:xfrm>
            <a:off x="573840" y="579600"/>
            <a:ext cx="2276280" cy="1461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ts val="2126"/>
              </a:lnSpc>
            </a:pPr>
            <a:r>
              <a:rPr lang="es-CO" sz="1700" b="1" strike="noStrike" spc="-1">
                <a:solidFill>
                  <a:srgbClr val="000000"/>
                </a:solidFill>
                <a:latin typeface="Arial"/>
                <a:ea typeface="Tahoma"/>
              </a:rPr>
              <a:t> Habilidades Sociales</a:t>
            </a:r>
            <a:endParaRPr lang="es-CO" sz="1700" b="0" strike="noStrike" spc="-1">
              <a:latin typeface="Arial"/>
            </a:endParaRPr>
          </a:p>
          <a:p>
            <a:pPr marL="360">
              <a:lnSpc>
                <a:spcPts val="1341"/>
              </a:lnSpc>
            </a:pPr>
            <a:endParaRPr lang="es-CO" sz="1700" b="0" strike="noStrike" spc="-1">
              <a:latin typeface="Arial"/>
            </a:endParaRPr>
          </a:p>
          <a:p>
            <a:pPr marL="216000" indent="-215280">
              <a:lnSpc>
                <a:spcPts val="1341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200" b="0" strike="noStrike" spc="-1">
                <a:solidFill>
                  <a:srgbClr val="000000"/>
                </a:solidFill>
                <a:latin typeface="Arial"/>
                <a:ea typeface="Tahoma"/>
              </a:rPr>
              <a:t>Escucha Activa</a:t>
            </a:r>
            <a:endParaRPr lang="es-CO" sz="1200" b="0" strike="noStrike" spc="-1">
              <a:latin typeface="Arial"/>
            </a:endParaRPr>
          </a:p>
          <a:p>
            <a:pPr marL="216000" indent="-215280">
              <a:lnSpc>
                <a:spcPts val="1341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200" b="0" strike="noStrike" spc="-1">
                <a:solidFill>
                  <a:srgbClr val="000000"/>
                </a:solidFill>
                <a:latin typeface="Arial"/>
                <a:ea typeface="Tahoma"/>
              </a:rPr>
              <a:t>Asertividad</a:t>
            </a:r>
            <a:endParaRPr lang="es-CO" sz="1200" b="0" strike="noStrike" spc="-1">
              <a:latin typeface="Arial"/>
            </a:endParaRPr>
          </a:p>
          <a:p>
            <a:pPr marL="216000" indent="-215280">
              <a:lnSpc>
                <a:spcPts val="1341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200" b="0" strike="noStrike" spc="-1">
                <a:solidFill>
                  <a:srgbClr val="000000"/>
                </a:solidFill>
                <a:latin typeface="Arial"/>
                <a:ea typeface="Tahoma"/>
              </a:rPr>
              <a:t>Resolución de Conflictos</a:t>
            </a:r>
            <a:endParaRPr lang="es-CO" sz="1200" b="0" strike="noStrike" spc="-1">
              <a:latin typeface="Arial"/>
            </a:endParaRPr>
          </a:p>
          <a:p>
            <a:pPr marL="216000" indent="-215280">
              <a:lnSpc>
                <a:spcPts val="1341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200" b="0" strike="noStrike" spc="-1">
                <a:solidFill>
                  <a:srgbClr val="000000"/>
                </a:solidFill>
                <a:latin typeface="Arial"/>
                <a:ea typeface="Tahoma"/>
              </a:rPr>
              <a:t>Voluntariado: servicio comunitario educación y proyección a la comunidad.</a:t>
            </a:r>
            <a:endParaRPr lang="es-CO" sz="1200" b="0" strike="noStrike" spc="-1">
              <a:latin typeface="Arial"/>
            </a:endParaRPr>
          </a:p>
        </p:txBody>
      </p:sp>
      <p:sp>
        <p:nvSpPr>
          <p:cNvPr id="82" name="CustomShape 3"/>
          <p:cNvSpPr/>
          <p:nvPr/>
        </p:nvSpPr>
        <p:spPr>
          <a:xfrm>
            <a:off x="573840" y="2019240"/>
            <a:ext cx="2276280" cy="1561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ts val="2126"/>
              </a:lnSpc>
            </a:pPr>
            <a:r>
              <a:rPr lang="es-CO" sz="1100" b="1" strike="noStrike" spc="-1">
                <a:solidFill>
                  <a:srgbClr val="000000"/>
                </a:solidFill>
                <a:latin typeface="Arial"/>
                <a:ea typeface="Tahoma"/>
              </a:rPr>
              <a:t> </a:t>
            </a:r>
            <a:r>
              <a:rPr lang="es-CO" sz="1700" b="1" strike="noStrike" spc="-1">
                <a:solidFill>
                  <a:srgbClr val="000000"/>
                </a:solidFill>
                <a:latin typeface="Arial"/>
                <a:ea typeface="Tahoma"/>
              </a:rPr>
              <a:t>Habilidades Digitales</a:t>
            </a:r>
            <a:endParaRPr lang="es-CO" sz="1700" b="0" strike="noStrike" spc="-1">
              <a:latin typeface="Arial"/>
            </a:endParaRPr>
          </a:p>
          <a:p>
            <a:pPr>
              <a:lnSpc>
                <a:spcPts val="1341"/>
              </a:lnSpc>
            </a:pPr>
            <a:endParaRPr lang="es-CO" sz="1700" b="0" strike="noStrike" spc="-1">
              <a:latin typeface="Arial"/>
            </a:endParaRPr>
          </a:p>
          <a:p>
            <a:pPr marL="216000" indent="-215280">
              <a:lnSpc>
                <a:spcPts val="1341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200" b="0" strike="noStrike" spc="-1">
                <a:solidFill>
                  <a:srgbClr val="000000"/>
                </a:solidFill>
                <a:latin typeface="Arial"/>
                <a:ea typeface="Tahoma"/>
              </a:rPr>
              <a:t>Manejo Básico de Suite Office (Word, PowerPoint, Excel)</a:t>
            </a:r>
            <a:endParaRPr lang="es-CO" sz="1200" b="0" strike="noStrike" spc="-1">
              <a:latin typeface="Arial"/>
            </a:endParaRPr>
          </a:p>
          <a:p>
            <a:pPr marL="216000" indent="-215280">
              <a:lnSpc>
                <a:spcPts val="1341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200" b="0" strike="noStrike" spc="-1">
                <a:solidFill>
                  <a:srgbClr val="000000"/>
                </a:solidFill>
                <a:latin typeface="Arial"/>
                <a:ea typeface="Tahoma"/>
              </a:rPr>
              <a:t>Canva</a:t>
            </a:r>
            <a:endParaRPr lang="es-CO" sz="1200" b="0" strike="noStrike" spc="-1">
              <a:latin typeface="Arial"/>
            </a:endParaRPr>
          </a:p>
          <a:p>
            <a:pPr marL="216000" indent="-215280">
              <a:lnSpc>
                <a:spcPts val="1341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200" b="0" strike="noStrike" spc="-1">
                <a:solidFill>
                  <a:srgbClr val="000000"/>
                </a:solidFill>
                <a:latin typeface="Arial"/>
                <a:ea typeface="Tahoma"/>
              </a:rPr>
              <a:t>Google Earth</a:t>
            </a:r>
            <a:endParaRPr lang="es-CO" sz="1200" b="0" strike="noStrike" spc="-1">
              <a:latin typeface="Arial"/>
            </a:endParaRPr>
          </a:p>
          <a:p>
            <a:pPr marL="216000" indent="-215280">
              <a:lnSpc>
                <a:spcPts val="1341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200" b="0" strike="noStrike" spc="-1">
                <a:solidFill>
                  <a:srgbClr val="000000"/>
                </a:solidFill>
                <a:latin typeface="Arial"/>
                <a:ea typeface="Tahoma"/>
              </a:rPr>
              <a:t>Field Área Measure</a:t>
            </a:r>
            <a:endParaRPr lang="es-CO" sz="1200" b="0" strike="noStrike" spc="-1">
              <a:latin typeface="Arial"/>
            </a:endParaRPr>
          </a:p>
          <a:p>
            <a:pPr>
              <a:lnSpc>
                <a:spcPts val="2126"/>
              </a:lnSpc>
            </a:pPr>
            <a:endParaRPr lang="es-CO" sz="1200" b="0" strike="noStrike" spc="-1">
              <a:latin typeface="Arial"/>
            </a:endParaRPr>
          </a:p>
        </p:txBody>
      </p:sp>
      <p:sp>
        <p:nvSpPr>
          <p:cNvPr id="83" name="CustomShape 4"/>
          <p:cNvSpPr/>
          <p:nvPr/>
        </p:nvSpPr>
        <p:spPr>
          <a:xfrm>
            <a:off x="3228120" y="318960"/>
            <a:ext cx="4335480" cy="506160"/>
          </a:xfrm>
          <a:custGeom>
            <a:avLst/>
            <a:gdLst/>
            <a:ahLst/>
            <a:cxnLst/>
            <a:rect l="l" t="t" r="r" b="b"/>
            <a:pathLst>
              <a:path w="1534825" h="231308">
                <a:moveTo>
                  <a:pt x="0" y="0"/>
                </a:moveTo>
                <a:lnTo>
                  <a:pt x="1534825" y="0"/>
                </a:lnTo>
                <a:lnTo>
                  <a:pt x="1534825" y="231308"/>
                </a:lnTo>
                <a:lnTo>
                  <a:pt x="0" y="231308"/>
                </a:lnTo>
                <a:close/>
              </a:path>
            </a:pathLst>
          </a:custGeom>
          <a:solidFill>
            <a:srgbClr val="78AB9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4" name="CustomShape 5"/>
          <p:cNvSpPr/>
          <p:nvPr/>
        </p:nvSpPr>
        <p:spPr>
          <a:xfrm>
            <a:off x="3218400" y="477720"/>
            <a:ext cx="4273920" cy="269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ts val="2126"/>
              </a:lnSpc>
            </a:pPr>
            <a:r>
              <a:rPr lang="es-CO" sz="1700" b="1" strike="noStrike" spc="-1">
                <a:solidFill>
                  <a:srgbClr val="FFFFFF"/>
                </a:solidFill>
                <a:latin typeface="Arial"/>
                <a:ea typeface="Tahoma"/>
              </a:rPr>
              <a:t>Educación</a:t>
            </a:r>
            <a:endParaRPr lang="es-CO" sz="1700" b="0" strike="noStrike" spc="-1">
              <a:latin typeface="Arial"/>
            </a:endParaRPr>
          </a:p>
        </p:txBody>
      </p:sp>
      <p:grpSp>
        <p:nvGrpSpPr>
          <p:cNvPr id="85" name="Group 6"/>
          <p:cNvGrpSpPr/>
          <p:nvPr/>
        </p:nvGrpSpPr>
        <p:grpSpPr>
          <a:xfrm>
            <a:off x="3386520" y="1077840"/>
            <a:ext cx="3916440" cy="1332000"/>
            <a:chOff x="3386520" y="1077840"/>
            <a:chExt cx="3916440" cy="1332000"/>
          </a:xfrm>
        </p:grpSpPr>
        <p:sp>
          <p:nvSpPr>
            <p:cNvPr id="86" name="CustomShape 7"/>
            <p:cNvSpPr/>
            <p:nvPr/>
          </p:nvSpPr>
          <p:spPr>
            <a:xfrm>
              <a:off x="3393360" y="1364040"/>
              <a:ext cx="3909600" cy="34884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/>
            <a:lstStyle/>
            <a:p>
              <a:pPr algn="just">
                <a:lnSpc>
                  <a:spcPts val="1375"/>
                </a:lnSpc>
              </a:pPr>
              <a:r>
                <a:rPr lang="es-CO" sz="1200" b="1" strike="noStrike" spc="-1">
                  <a:solidFill>
                    <a:srgbClr val="000000"/>
                  </a:solidFill>
                  <a:latin typeface="Arial"/>
                  <a:ea typeface="Verdana"/>
                </a:rPr>
                <a:t>Jóvenes para la Conservación Colombia (JPCC)</a:t>
              </a:r>
              <a:endParaRPr lang="es-CO" sz="1200" b="0" strike="noStrike" spc="-1">
                <a:latin typeface="Arial"/>
              </a:endParaRPr>
            </a:p>
          </p:txBody>
        </p:sp>
        <p:sp>
          <p:nvSpPr>
            <p:cNvPr id="87" name="CustomShape 8"/>
            <p:cNvSpPr/>
            <p:nvPr/>
          </p:nvSpPr>
          <p:spPr>
            <a:xfrm>
              <a:off x="3386520" y="1657800"/>
              <a:ext cx="3778920" cy="75204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/>
            <a:lstStyle/>
            <a:p>
              <a:pPr algn="just">
                <a:lnSpc>
                  <a:spcPct val="100000"/>
                </a:lnSpc>
              </a:pPr>
              <a:r>
                <a:rPr lang="es-CO" sz="1200" b="0" i="1" strike="noStrike" spc="-1">
                  <a:solidFill>
                    <a:srgbClr val="000000"/>
                  </a:solidFill>
                  <a:latin typeface="Arial"/>
                  <a:ea typeface="Tahoma"/>
                </a:rPr>
                <a:t>Servicio Forestal de los Estados Unidos (USFS) - Agencia de los Estados Unidos para el Desarrollo Internacional (USAID).</a:t>
              </a:r>
              <a:endParaRPr lang="es-CO" sz="1200" b="0" strike="noStrike" spc="-1">
                <a:latin typeface="Arial"/>
              </a:endParaRPr>
            </a:p>
            <a:p>
              <a:pPr>
                <a:lnSpc>
                  <a:spcPts val="1341"/>
                </a:lnSpc>
              </a:pPr>
              <a:endParaRPr lang="es-CO" sz="1200" b="0" strike="noStrike" spc="-1">
                <a:latin typeface="Arial"/>
              </a:endParaRPr>
            </a:p>
            <a:p>
              <a:pPr marL="194400" lvl="1" indent="-95400">
                <a:lnSpc>
                  <a:spcPts val="1341"/>
                </a:lnSpc>
                <a:buClr>
                  <a:srgbClr val="000000"/>
                </a:buClr>
                <a:buFont typeface="Arial"/>
                <a:buChar char="•"/>
              </a:pPr>
              <a:r>
                <a:rPr lang="es-CO" sz="1200" b="0" strike="noStrike" spc="-1">
                  <a:solidFill>
                    <a:srgbClr val="000000"/>
                  </a:solidFill>
                  <a:latin typeface="Arial"/>
                  <a:ea typeface="Tahoma"/>
                </a:rPr>
                <a:t>Formación en Liderazgo y Conservación Ambiental.</a:t>
              </a:r>
              <a:endParaRPr lang="es-CO" sz="1200" b="0" strike="noStrike" spc="-1">
                <a:latin typeface="Arial"/>
              </a:endParaRPr>
            </a:p>
          </p:txBody>
        </p:sp>
        <p:sp>
          <p:nvSpPr>
            <p:cNvPr id="88" name="CustomShape 9"/>
            <p:cNvSpPr/>
            <p:nvPr/>
          </p:nvSpPr>
          <p:spPr>
            <a:xfrm>
              <a:off x="3393360" y="1077840"/>
              <a:ext cx="1451160" cy="1965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/>
            <a:lstStyle/>
            <a:p>
              <a:pPr>
                <a:lnSpc>
                  <a:spcPts val="1403"/>
                </a:lnSpc>
              </a:pPr>
              <a:r>
                <a:rPr lang="es-CO" sz="12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04/2023 - 11/2023</a:t>
              </a:r>
              <a:endParaRPr lang="es-CO" sz="1200" b="0" strike="noStrike" spc="-1">
                <a:latin typeface="Arial"/>
              </a:endParaRPr>
            </a:p>
          </p:txBody>
        </p:sp>
      </p:grpSp>
      <p:grpSp>
        <p:nvGrpSpPr>
          <p:cNvPr id="89" name="Group 10"/>
          <p:cNvGrpSpPr/>
          <p:nvPr/>
        </p:nvGrpSpPr>
        <p:grpSpPr>
          <a:xfrm>
            <a:off x="3382920" y="2989800"/>
            <a:ext cx="3909600" cy="1172880"/>
            <a:chOff x="3382920" y="2989800"/>
            <a:chExt cx="3909600" cy="1172880"/>
          </a:xfrm>
        </p:grpSpPr>
        <p:sp>
          <p:nvSpPr>
            <p:cNvPr id="90" name="CustomShape 11"/>
            <p:cNvSpPr/>
            <p:nvPr/>
          </p:nvSpPr>
          <p:spPr>
            <a:xfrm>
              <a:off x="3382920" y="3305520"/>
              <a:ext cx="3909600" cy="5835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/>
            <a:lstStyle/>
            <a:p>
              <a:pPr algn="just">
                <a:lnSpc>
                  <a:spcPts val="1375"/>
                </a:lnSpc>
              </a:pPr>
              <a:r>
                <a:rPr lang="es-CO" sz="1200" b="1" strike="noStrike" spc="-1">
                  <a:solidFill>
                    <a:srgbClr val="000000"/>
                  </a:solidFill>
                  <a:latin typeface="Arial"/>
                  <a:ea typeface="Verdana"/>
                </a:rPr>
                <a:t>Técnica en manejo ambiental</a:t>
              </a:r>
              <a:endParaRPr lang="es-CO" sz="1200" b="0" strike="noStrike" spc="-1">
                <a:latin typeface="Arial"/>
              </a:endParaRPr>
            </a:p>
          </p:txBody>
        </p:sp>
        <p:sp>
          <p:nvSpPr>
            <p:cNvPr id="91" name="CustomShape 12"/>
            <p:cNvSpPr/>
            <p:nvPr/>
          </p:nvSpPr>
          <p:spPr>
            <a:xfrm>
              <a:off x="3382920" y="3646080"/>
              <a:ext cx="3782520" cy="5166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/>
            <a:lstStyle/>
            <a:p>
              <a:pPr algn="just">
                <a:lnSpc>
                  <a:spcPct val="100000"/>
                </a:lnSpc>
              </a:pPr>
              <a:r>
                <a:rPr lang="es-CO" sz="1200" b="0" i="1" strike="noStrike" spc="-1">
                  <a:solidFill>
                    <a:srgbClr val="000000"/>
                  </a:solidFill>
                  <a:latin typeface="Arial"/>
                  <a:ea typeface="Tahoma"/>
                </a:rPr>
                <a:t>Servicio nacional de Aprendizaje (SENA).</a:t>
              </a:r>
              <a:endParaRPr lang="es-CO" sz="1200" b="0" strike="noStrike" spc="-1">
                <a:latin typeface="Arial"/>
              </a:endParaRPr>
            </a:p>
          </p:txBody>
        </p:sp>
        <p:sp>
          <p:nvSpPr>
            <p:cNvPr id="92" name="CustomShape 13"/>
            <p:cNvSpPr/>
            <p:nvPr/>
          </p:nvSpPr>
          <p:spPr>
            <a:xfrm>
              <a:off x="3382920" y="2989800"/>
              <a:ext cx="1330920" cy="1983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/>
            <a:lstStyle/>
            <a:p>
              <a:pPr>
                <a:lnSpc>
                  <a:spcPts val="1403"/>
                </a:lnSpc>
              </a:pPr>
              <a:r>
                <a:rPr lang="es-CO" sz="12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02/2016 - 11/2018</a:t>
              </a:r>
              <a:endParaRPr lang="es-CO" sz="1200" b="0" strike="noStrike" spc="-1">
                <a:latin typeface="Arial"/>
              </a:endParaRPr>
            </a:p>
          </p:txBody>
        </p:sp>
      </p:grpSp>
      <p:sp>
        <p:nvSpPr>
          <p:cNvPr id="93" name="CustomShape 14"/>
          <p:cNvSpPr/>
          <p:nvPr/>
        </p:nvSpPr>
        <p:spPr>
          <a:xfrm>
            <a:off x="3231360" y="5807160"/>
            <a:ext cx="4332240" cy="506160"/>
          </a:xfrm>
          <a:custGeom>
            <a:avLst/>
            <a:gdLst/>
            <a:ahLst/>
            <a:cxnLst/>
            <a:rect l="l" t="t" r="r" b="b"/>
            <a:pathLst>
              <a:path w="1534825" h="231308">
                <a:moveTo>
                  <a:pt x="0" y="0"/>
                </a:moveTo>
                <a:lnTo>
                  <a:pt x="1534825" y="0"/>
                </a:lnTo>
                <a:lnTo>
                  <a:pt x="1534825" y="231308"/>
                </a:lnTo>
                <a:lnTo>
                  <a:pt x="0" y="231308"/>
                </a:lnTo>
                <a:close/>
              </a:path>
            </a:pathLst>
          </a:custGeom>
          <a:solidFill>
            <a:srgbClr val="78AB9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4" name="CustomShape 15"/>
          <p:cNvSpPr/>
          <p:nvPr/>
        </p:nvSpPr>
        <p:spPr>
          <a:xfrm>
            <a:off x="3218400" y="5939640"/>
            <a:ext cx="4273920" cy="269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ts val="2126"/>
              </a:lnSpc>
            </a:pPr>
            <a:r>
              <a:rPr lang="es-CO" sz="1700" b="1" strike="noStrike" spc="-1">
                <a:solidFill>
                  <a:srgbClr val="FFFFFF"/>
                </a:solidFill>
                <a:latin typeface="Arial"/>
                <a:ea typeface="Tahoma"/>
              </a:rPr>
              <a:t>Formación Continua</a:t>
            </a:r>
            <a:endParaRPr lang="es-CO" sz="1700" b="0" strike="noStrike" spc="-1">
              <a:latin typeface="Arial"/>
            </a:endParaRPr>
          </a:p>
        </p:txBody>
      </p:sp>
      <p:grpSp>
        <p:nvGrpSpPr>
          <p:cNvPr id="95" name="Group 16"/>
          <p:cNvGrpSpPr/>
          <p:nvPr/>
        </p:nvGrpSpPr>
        <p:grpSpPr>
          <a:xfrm>
            <a:off x="3384720" y="6588000"/>
            <a:ext cx="3917880" cy="756000"/>
            <a:chOff x="3384720" y="6588000"/>
            <a:chExt cx="3917880" cy="756000"/>
          </a:xfrm>
        </p:grpSpPr>
        <p:sp>
          <p:nvSpPr>
            <p:cNvPr id="96" name="CustomShape 17"/>
            <p:cNvSpPr/>
            <p:nvPr/>
          </p:nvSpPr>
          <p:spPr>
            <a:xfrm>
              <a:off x="3384720" y="6846840"/>
              <a:ext cx="3917880" cy="2433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/>
            <a:lstStyle/>
            <a:p>
              <a:pPr algn="just">
                <a:lnSpc>
                  <a:spcPts val="1375"/>
                </a:lnSpc>
              </a:pPr>
              <a:r>
                <a:rPr lang="es-CO" sz="1200" b="1" strike="noStrike" spc="-1">
                  <a:solidFill>
                    <a:srgbClr val="000000"/>
                  </a:solidFill>
                  <a:latin typeface="Arial"/>
                  <a:ea typeface="Verdana"/>
                </a:rPr>
                <a:t>Curso Básico en Primeros Auxilios</a:t>
              </a:r>
              <a:endParaRPr lang="es-CO" sz="1200" b="0" strike="noStrike" spc="-1">
                <a:latin typeface="Arial"/>
              </a:endParaRPr>
            </a:p>
          </p:txBody>
        </p:sp>
        <p:sp>
          <p:nvSpPr>
            <p:cNvPr id="97" name="CustomShape 18"/>
            <p:cNvSpPr/>
            <p:nvPr/>
          </p:nvSpPr>
          <p:spPr>
            <a:xfrm>
              <a:off x="3384720" y="7097400"/>
              <a:ext cx="3917880" cy="2466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/>
            <a:lstStyle/>
            <a:p>
              <a:pPr algn="just">
                <a:lnSpc>
                  <a:spcPts val="1624"/>
                </a:lnSpc>
              </a:pPr>
              <a:r>
                <a:rPr lang="es-CO" sz="1200" b="0" i="1" strike="noStrike" spc="-1">
                  <a:solidFill>
                    <a:srgbClr val="000000"/>
                  </a:solidFill>
                  <a:latin typeface="Arial"/>
                  <a:ea typeface="Tahoma"/>
                </a:rPr>
                <a:t>Cruz Roja Seccional de Caldas (20 Horas).</a:t>
              </a:r>
              <a:endParaRPr lang="es-CO" sz="1200" b="0" strike="noStrike" spc="-1">
                <a:latin typeface="Arial"/>
              </a:endParaRPr>
            </a:p>
          </p:txBody>
        </p:sp>
        <p:sp>
          <p:nvSpPr>
            <p:cNvPr id="98" name="CustomShape 19"/>
            <p:cNvSpPr/>
            <p:nvPr/>
          </p:nvSpPr>
          <p:spPr>
            <a:xfrm>
              <a:off x="3384720" y="6588000"/>
              <a:ext cx="1221120" cy="19872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/>
            <a:lstStyle/>
            <a:p>
              <a:pPr algn="just">
                <a:lnSpc>
                  <a:spcPts val="1375"/>
                </a:lnSpc>
              </a:pPr>
              <a:r>
                <a:rPr lang="es-CO" sz="1200" b="0" strike="noStrike" spc="-1">
                  <a:solidFill>
                    <a:srgbClr val="000000"/>
                  </a:solidFill>
                  <a:latin typeface="Arial"/>
                  <a:ea typeface="Verdana"/>
                </a:rPr>
                <a:t>09/2023</a:t>
              </a:r>
              <a:r>
                <a:rPr lang="es-CO" sz="1100" b="1" strike="noStrike" spc="-1">
                  <a:solidFill>
                    <a:srgbClr val="000000"/>
                  </a:solidFill>
                  <a:latin typeface="Arial"/>
                  <a:ea typeface="Verdana"/>
                </a:rPr>
                <a:t> </a:t>
              </a:r>
              <a:endParaRPr lang="es-CO" sz="1100" b="0" strike="noStrike" spc="-1">
                <a:latin typeface="Arial"/>
              </a:endParaRPr>
            </a:p>
          </p:txBody>
        </p:sp>
      </p:grpSp>
      <p:grpSp>
        <p:nvGrpSpPr>
          <p:cNvPr id="99" name="Group 20"/>
          <p:cNvGrpSpPr/>
          <p:nvPr/>
        </p:nvGrpSpPr>
        <p:grpSpPr>
          <a:xfrm>
            <a:off x="3417480" y="7787160"/>
            <a:ext cx="3747960" cy="1015920"/>
            <a:chOff x="3417480" y="7787160"/>
            <a:chExt cx="3747960" cy="1015920"/>
          </a:xfrm>
        </p:grpSpPr>
        <p:sp>
          <p:nvSpPr>
            <p:cNvPr id="100" name="CustomShape 21"/>
            <p:cNvSpPr/>
            <p:nvPr/>
          </p:nvSpPr>
          <p:spPr>
            <a:xfrm>
              <a:off x="3420720" y="8046360"/>
              <a:ext cx="3744720" cy="42804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/>
            <a:lstStyle/>
            <a:p>
              <a:pPr algn="just">
                <a:lnSpc>
                  <a:spcPts val="1375"/>
                </a:lnSpc>
              </a:pPr>
              <a:r>
                <a:rPr lang="es-CO" sz="1200" b="1" strike="noStrike" spc="-1">
                  <a:solidFill>
                    <a:srgbClr val="000000"/>
                  </a:solidFill>
                  <a:latin typeface="Arial"/>
                  <a:ea typeface="Verdana"/>
                </a:rPr>
                <a:t>Curso especial en producción psicola</a:t>
              </a:r>
              <a:endParaRPr lang="es-CO" sz="1200" b="0" strike="noStrike" spc="-1">
                <a:latin typeface="Arial"/>
              </a:endParaRPr>
            </a:p>
          </p:txBody>
        </p:sp>
        <p:sp>
          <p:nvSpPr>
            <p:cNvPr id="101" name="CustomShape 22"/>
            <p:cNvSpPr/>
            <p:nvPr/>
          </p:nvSpPr>
          <p:spPr>
            <a:xfrm>
              <a:off x="3417480" y="8503200"/>
              <a:ext cx="3747960" cy="2998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/>
            <a:lstStyle/>
            <a:p>
              <a:pPr algn="just">
                <a:lnSpc>
                  <a:spcPts val="1624"/>
                </a:lnSpc>
              </a:pPr>
              <a:r>
                <a:rPr lang="es-CO" sz="1200" b="0" i="1" strike="noStrike" spc="-1">
                  <a:solidFill>
                    <a:srgbClr val="000000"/>
                  </a:solidFill>
                  <a:latin typeface="Arial"/>
                  <a:ea typeface="Tahoma"/>
                </a:rPr>
                <a:t>Servicio Nacional de Aprendizaje - SENA (40 Horas).</a:t>
              </a:r>
              <a:endParaRPr lang="es-CO" sz="1200" b="0" strike="noStrike" spc="-1">
                <a:latin typeface="Arial"/>
              </a:endParaRPr>
            </a:p>
          </p:txBody>
        </p:sp>
        <p:sp>
          <p:nvSpPr>
            <p:cNvPr id="102" name="CustomShape 23"/>
            <p:cNvSpPr/>
            <p:nvPr/>
          </p:nvSpPr>
          <p:spPr>
            <a:xfrm>
              <a:off x="3417480" y="7787160"/>
              <a:ext cx="1170360" cy="1890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/>
            <a:lstStyle/>
            <a:p>
              <a:pPr algn="just">
                <a:lnSpc>
                  <a:spcPts val="1375"/>
                </a:lnSpc>
              </a:pPr>
              <a:r>
                <a:rPr lang="es-CO" sz="1100" b="0" strike="noStrike" spc="-1">
                  <a:solidFill>
                    <a:srgbClr val="000000"/>
                  </a:solidFill>
                  <a:latin typeface="Arial"/>
                  <a:ea typeface="Verdana"/>
                </a:rPr>
                <a:t>07/2021 </a:t>
              </a:r>
              <a:endParaRPr lang="es-CO" sz="1100" b="0" strike="noStrike" spc="-1">
                <a:latin typeface="Arial"/>
              </a:endParaRPr>
            </a:p>
          </p:txBody>
        </p:sp>
      </p:grpSp>
      <p:grpSp>
        <p:nvGrpSpPr>
          <p:cNvPr id="107" name="Group 28"/>
          <p:cNvGrpSpPr/>
          <p:nvPr/>
        </p:nvGrpSpPr>
        <p:grpSpPr>
          <a:xfrm>
            <a:off x="3430800" y="4537800"/>
            <a:ext cx="3930480" cy="1111320"/>
            <a:chOff x="3430800" y="4537800"/>
            <a:chExt cx="3930480" cy="1111320"/>
          </a:xfrm>
        </p:grpSpPr>
        <p:sp>
          <p:nvSpPr>
            <p:cNvPr id="108" name="CustomShape 29"/>
            <p:cNvSpPr/>
            <p:nvPr/>
          </p:nvSpPr>
          <p:spPr>
            <a:xfrm>
              <a:off x="3430800" y="4853520"/>
              <a:ext cx="3909600" cy="5835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/>
            <a:lstStyle/>
            <a:p>
              <a:pPr algn="just">
                <a:lnSpc>
                  <a:spcPts val="1375"/>
                </a:lnSpc>
              </a:pPr>
              <a:r>
                <a:rPr lang="es-CO" sz="1200" b="1" strike="noStrike" spc="-1">
                  <a:solidFill>
                    <a:srgbClr val="000000"/>
                  </a:solidFill>
                  <a:latin typeface="Arial"/>
                  <a:ea typeface="Verdana"/>
                </a:rPr>
                <a:t>Bachiller Académico</a:t>
              </a:r>
              <a:endParaRPr lang="es-CO" sz="1200" b="0" strike="noStrike" spc="-1">
                <a:latin typeface="Arial"/>
              </a:endParaRPr>
            </a:p>
          </p:txBody>
        </p:sp>
        <p:sp>
          <p:nvSpPr>
            <p:cNvPr id="109" name="CustomShape 30"/>
            <p:cNvSpPr/>
            <p:nvPr/>
          </p:nvSpPr>
          <p:spPr>
            <a:xfrm>
              <a:off x="3430800" y="5193720"/>
              <a:ext cx="3930480" cy="4554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/>
            <a:lstStyle/>
            <a:p>
              <a:pPr algn="just">
                <a:lnSpc>
                  <a:spcPct val="100000"/>
                </a:lnSpc>
              </a:pPr>
              <a:r>
                <a:rPr lang="es-CO" sz="1200" b="0" i="1" strike="noStrike" spc="-1">
                  <a:solidFill>
                    <a:srgbClr val="000000"/>
                  </a:solidFill>
                  <a:latin typeface="Arial"/>
                  <a:ea typeface="Tahoma"/>
                </a:rPr>
                <a:t>Institución Educativa Mariscal Sucre, Riosucio Caldas. </a:t>
              </a:r>
              <a:endParaRPr lang="es-CO" sz="1200" b="0" strike="noStrike" spc="-1">
                <a:latin typeface="Arial"/>
              </a:endParaRPr>
            </a:p>
          </p:txBody>
        </p:sp>
        <p:sp>
          <p:nvSpPr>
            <p:cNvPr id="110" name="CustomShape 31"/>
            <p:cNvSpPr/>
            <p:nvPr/>
          </p:nvSpPr>
          <p:spPr>
            <a:xfrm>
              <a:off x="3430800" y="4537800"/>
              <a:ext cx="1330920" cy="1983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/>
            <a:lstStyle/>
            <a:p>
              <a:pPr>
                <a:lnSpc>
                  <a:spcPts val="1403"/>
                </a:lnSpc>
              </a:pPr>
              <a:r>
                <a:rPr lang="es-CO" sz="12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01/2013 - 12/2019</a:t>
              </a:r>
              <a:endParaRPr lang="es-CO" sz="1200" b="0" strike="noStrike" spc="-1">
                <a:latin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1367</TotalTime>
  <Words>277</Words>
  <Application>Microsoft Office PowerPoint</Application>
  <PresentationFormat>Personalizado</PresentationFormat>
  <Paragraphs>65</Paragraphs>
  <Slides>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1" baseType="lpstr">
      <vt:lpstr>Arial</vt:lpstr>
      <vt:lpstr>Calibri</vt:lpstr>
      <vt:lpstr>DejaVu Sans</vt:lpstr>
      <vt:lpstr>Symbol</vt:lpstr>
      <vt:lpstr>Tahoma</vt:lpstr>
      <vt:lpstr>Times New Roman</vt:lpstr>
      <vt:lpstr>Verdana</vt:lpstr>
      <vt:lpstr>Wingdings</vt:lpstr>
      <vt:lpstr>Office Theme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Currículum nutricionista simple verde</dc:title>
  <dc:subject/>
  <dc:creator>Leidy Carolina Motta Flórez</dc:creator>
  <dc:description/>
  <cp:lastModifiedBy>Estudiantes 6</cp:lastModifiedBy>
  <cp:revision>89</cp:revision>
  <dcterms:created xsi:type="dcterms:W3CDTF">2006-08-16T00:00:00Z</dcterms:created>
  <dcterms:modified xsi:type="dcterms:W3CDTF">2025-03-13T00:16:54Z</dcterms:modified>
  <dc:language>es-CO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1</vt:i4>
  </property>
  <property fmtid="{D5CDD505-2E9C-101B-9397-08002B2CF9AE}" pid="8" name="PresentationFormat">
    <vt:lpwstr>Personalizado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</vt:i4>
  </property>
</Properties>
</file>