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Times New Roman Bold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456766" y="-872056"/>
            <a:ext cx="3707842" cy="11907173"/>
          </a:xfrm>
          <a:prstGeom prst="rect">
            <a:avLst/>
          </a:prstGeom>
          <a:solidFill>
            <a:srgbClr val="B8A797">
              <a:alpha val="28627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512570" y="6985637"/>
            <a:ext cx="168972" cy="121177"/>
          </a:xfrm>
          <a:custGeom>
            <a:avLst/>
            <a:gdLst/>
            <a:ahLst/>
            <a:cxnLst/>
            <a:rect l="l" t="t" r="r" b="b"/>
            <a:pathLst>
              <a:path w="168972" h="121177">
                <a:moveTo>
                  <a:pt x="0" y="0"/>
                </a:moveTo>
                <a:lnTo>
                  <a:pt x="168972" y="0"/>
                </a:lnTo>
                <a:lnTo>
                  <a:pt x="168972" y="121177"/>
                </a:lnTo>
                <a:lnTo>
                  <a:pt x="0" y="121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524942" y="6619346"/>
            <a:ext cx="190516" cy="128166"/>
          </a:xfrm>
          <a:custGeom>
            <a:avLst/>
            <a:gdLst/>
            <a:ahLst/>
            <a:cxnLst/>
            <a:rect l="l" t="t" r="r" b="b"/>
            <a:pathLst>
              <a:path w="190516" h="128166">
                <a:moveTo>
                  <a:pt x="0" y="0"/>
                </a:moveTo>
                <a:lnTo>
                  <a:pt x="190516" y="0"/>
                </a:lnTo>
                <a:lnTo>
                  <a:pt x="190516" y="128166"/>
                </a:lnTo>
                <a:lnTo>
                  <a:pt x="0" y="1281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Freeform 5"/>
          <p:cNvSpPr/>
          <p:nvPr/>
        </p:nvSpPr>
        <p:spPr>
          <a:xfrm>
            <a:off x="512570" y="7314318"/>
            <a:ext cx="168972" cy="187746"/>
          </a:xfrm>
          <a:custGeom>
            <a:avLst/>
            <a:gdLst/>
            <a:ahLst/>
            <a:cxnLst/>
            <a:rect l="l" t="t" r="r" b="b"/>
            <a:pathLst>
              <a:path w="168972" h="187746">
                <a:moveTo>
                  <a:pt x="0" y="0"/>
                </a:moveTo>
                <a:lnTo>
                  <a:pt x="168972" y="0"/>
                </a:lnTo>
                <a:lnTo>
                  <a:pt x="168972" y="187746"/>
                </a:lnTo>
                <a:lnTo>
                  <a:pt x="0" y="187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 flipH="1" flipV="1">
            <a:off x="3731528" y="1796885"/>
            <a:ext cx="3023613" cy="0"/>
          </a:xfrm>
          <a:prstGeom prst="line">
            <a:avLst/>
          </a:prstGeom>
          <a:ln w="19050" cap="flat">
            <a:solidFill>
              <a:srgbClr val="AE7E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484500" y="8192564"/>
            <a:ext cx="2417908" cy="263098"/>
          </a:xfrm>
          <a:prstGeom prst="rect">
            <a:avLst/>
          </a:prstGeom>
          <a:solidFill>
            <a:srgbClr val="F8F7F2"/>
          </a:solidFill>
        </p:spPr>
        <p:txBody>
          <a:bodyPr/>
          <a:lstStyle/>
          <a:p>
            <a:endParaRPr lang="es-CO"/>
          </a:p>
        </p:txBody>
      </p:sp>
      <p:grpSp>
        <p:nvGrpSpPr>
          <p:cNvPr id="8" name="Group 8"/>
          <p:cNvGrpSpPr/>
          <p:nvPr/>
        </p:nvGrpSpPr>
        <p:grpSpPr>
          <a:xfrm>
            <a:off x="483023" y="8187625"/>
            <a:ext cx="272977" cy="27297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8F7F2"/>
            </a:solidFill>
            <a:ln w="19050" cap="sq">
              <a:solidFill>
                <a:srgbClr val="AE7E5E"/>
              </a:solidFill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0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524942" y="6119728"/>
            <a:ext cx="2417908" cy="263098"/>
          </a:xfrm>
          <a:prstGeom prst="rect">
            <a:avLst/>
          </a:prstGeom>
          <a:solidFill>
            <a:srgbClr val="F8F7F2"/>
          </a:solidFill>
        </p:spPr>
        <p:txBody>
          <a:bodyPr/>
          <a:lstStyle/>
          <a:p>
            <a:endParaRPr lang="es-CO"/>
          </a:p>
        </p:txBody>
      </p:sp>
      <p:grpSp>
        <p:nvGrpSpPr>
          <p:cNvPr id="12" name="Group 12"/>
          <p:cNvGrpSpPr/>
          <p:nvPr/>
        </p:nvGrpSpPr>
        <p:grpSpPr>
          <a:xfrm>
            <a:off x="468537" y="6127757"/>
            <a:ext cx="272977" cy="27297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8F7F2"/>
            </a:solidFill>
            <a:ln w="19050" cap="sq">
              <a:solidFill>
                <a:srgbClr val="AE7E5E"/>
              </a:solidFill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0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512570" y="4147533"/>
            <a:ext cx="2442651" cy="263098"/>
          </a:xfrm>
          <a:prstGeom prst="rect">
            <a:avLst/>
          </a:prstGeom>
          <a:solidFill>
            <a:srgbClr val="F8F7F2"/>
          </a:solidFill>
        </p:spPr>
        <p:txBody>
          <a:bodyPr/>
          <a:lstStyle/>
          <a:p>
            <a:endParaRPr lang="es-CO"/>
          </a:p>
        </p:txBody>
      </p:sp>
      <p:grpSp>
        <p:nvGrpSpPr>
          <p:cNvPr id="16" name="Group 16"/>
          <p:cNvGrpSpPr/>
          <p:nvPr/>
        </p:nvGrpSpPr>
        <p:grpSpPr>
          <a:xfrm>
            <a:off x="425281" y="4137654"/>
            <a:ext cx="272977" cy="27297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8F7F2"/>
            </a:solidFill>
            <a:ln w="19050" cap="sq">
              <a:solidFill>
                <a:srgbClr val="AE7E5E"/>
              </a:solidFill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25281" y="182721"/>
            <a:ext cx="2241190" cy="2953339"/>
            <a:chOff x="0" y="0"/>
            <a:chExt cx="1039558" cy="13698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39558" cy="1369882"/>
            </a:xfrm>
            <a:custGeom>
              <a:avLst/>
              <a:gdLst/>
              <a:ahLst/>
              <a:cxnLst/>
              <a:rect l="l" t="t" r="r" b="b"/>
              <a:pathLst>
                <a:path w="1039558" h="1369882">
                  <a:moveTo>
                    <a:pt x="0" y="0"/>
                  </a:moveTo>
                  <a:lnTo>
                    <a:pt x="1039558" y="0"/>
                  </a:lnTo>
                  <a:lnTo>
                    <a:pt x="1039558" y="1369882"/>
                  </a:lnTo>
                  <a:lnTo>
                    <a:pt x="0" y="1369882"/>
                  </a:lnTo>
                  <a:close/>
                </a:path>
              </a:pathLst>
            </a:custGeom>
            <a:solidFill>
              <a:srgbClr val="F8F7F2"/>
            </a:solidFill>
            <a:ln w="19050" cap="sq">
              <a:solidFill>
                <a:srgbClr val="AE7E5E"/>
              </a:solidFill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039558" cy="1398457"/>
            </a:xfrm>
            <a:prstGeom prst="rect">
              <a:avLst/>
            </a:prstGeom>
          </p:spPr>
          <p:txBody>
            <a:bodyPr lIns="46495" tIns="46495" rIns="46495" bIns="46495" rtlCol="0" anchor="ctr"/>
            <a:lstStyle/>
            <a:p>
              <a:pPr algn="ctr">
                <a:lnSpc>
                  <a:spcPts val="1366"/>
                </a:lnSpc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>
            <a:off x="3811647" y="2429580"/>
            <a:ext cx="3126468" cy="262654"/>
          </a:xfrm>
          <a:prstGeom prst="rect">
            <a:avLst/>
          </a:prstGeom>
          <a:solidFill>
            <a:srgbClr val="B8A797">
              <a:alpha val="29804"/>
            </a:srgbClr>
          </a:solidFill>
        </p:spPr>
        <p:txBody>
          <a:bodyPr/>
          <a:lstStyle/>
          <a:p>
            <a:endParaRPr lang="es-CO"/>
          </a:p>
        </p:txBody>
      </p:sp>
      <p:grpSp>
        <p:nvGrpSpPr>
          <p:cNvPr id="23" name="Group 23"/>
          <p:cNvGrpSpPr/>
          <p:nvPr/>
        </p:nvGrpSpPr>
        <p:grpSpPr>
          <a:xfrm>
            <a:off x="3731528" y="2429580"/>
            <a:ext cx="272977" cy="27297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8F7F2"/>
            </a:solidFill>
            <a:ln w="19050" cap="sq">
              <a:solidFill>
                <a:srgbClr val="AE7E5E"/>
              </a:solidFill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0"/>
                </a:lnSpc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3967706" y="7151650"/>
            <a:ext cx="2970409" cy="263098"/>
          </a:xfrm>
          <a:prstGeom prst="rect">
            <a:avLst/>
          </a:prstGeom>
          <a:solidFill>
            <a:srgbClr val="B8A797">
              <a:alpha val="29804"/>
            </a:srgbClr>
          </a:solidFill>
        </p:spPr>
        <p:txBody>
          <a:bodyPr/>
          <a:lstStyle/>
          <a:p>
            <a:endParaRPr lang="es-CO"/>
          </a:p>
        </p:txBody>
      </p:sp>
      <p:grpSp>
        <p:nvGrpSpPr>
          <p:cNvPr id="27" name="Group 27"/>
          <p:cNvGrpSpPr/>
          <p:nvPr/>
        </p:nvGrpSpPr>
        <p:grpSpPr>
          <a:xfrm>
            <a:off x="3731528" y="7146710"/>
            <a:ext cx="272977" cy="27297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8F7F2"/>
            </a:solidFill>
            <a:ln w="19050" cap="sq">
              <a:solidFill>
                <a:srgbClr val="AE7E5E"/>
              </a:solidFill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0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561770" y="242891"/>
            <a:ext cx="1980216" cy="2839020"/>
          </a:xfrm>
          <a:custGeom>
            <a:avLst/>
            <a:gdLst/>
            <a:ahLst/>
            <a:cxnLst/>
            <a:rect l="l" t="t" r="r" b="b"/>
            <a:pathLst>
              <a:path w="1980216" h="2839020">
                <a:moveTo>
                  <a:pt x="0" y="0"/>
                </a:moveTo>
                <a:lnTo>
                  <a:pt x="1980216" y="0"/>
                </a:lnTo>
                <a:lnTo>
                  <a:pt x="1980216" y="2839019"/>
                </a:lnTo>
                <a:lnTo>
                  <a:pt x="0" y="28390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1" name="TextBox 31"/>
          <p:cNvSpPr txBox="1"/>
          <p:nvPr/>
        </p:nvSpPr>
        <p:spPr>
          <a:xfrm>
            <a:off x="3763568" y="327368"/>
            <a:ext cx="3198214" cy="1393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sz="420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Karina Grajales Órtiz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89214" y="2446607"/>
            <a:ext cx="235244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60"/>
              </a:lnSpc>
            </a:pPr>
            <a:r>
              <a:rPr lang="en-US" sz="1300" b="1" spc="84">
                <a:solidFill>
                  <a:srgbClr val="29282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EXPERIENCIA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4942" y="4517388"/>
            <a:ext cx="2290389" cy="109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7"/>
              </a:lnSpc>
            </a:pPr>
            <a:r>
              <a:rPr lang="en-US" sz="984" spc="2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Apasionada a la gastronomía, el café, el barismo y el campo. Me gusta enseñar y crear  experiencias y  buscar la sostenibilidad  alrededor de la comida. Busco un rol donde pueda combinar mi amor por estos mundos y el servicio.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676627" y="2898743"/>
            <a:ext cx="3261488" cy="195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16"/>
              </a:lnSpc>
              <a:spcBef>
                <a:spcPct val="0"/>
              </a:spcBef>
            </a:pPr>
            <a:r>
              <a:rPr lang="en-US" sz="1083" b="1" spc="22">
                <a:solidFill>
                  <a:srgbClr val="29282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ATENCIÓN AL CLIENTE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688057" y="3596313"/>
            <a:ext cx="3397075" cy="16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lang="en-US" sz="982" spc="2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Atención al cliente, manejo de caja, organización de productos.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76627" y="3107553"/>
            <a:ext cx="3136085" cy="170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86"/>
              </a:lnSpc>
              <a:spcBef>
                <a:spcPct val="0"/>
              </a:spcBef>
            </a:pPr>
            <a:r>
              <a:rPr lang="en-US" sz="990" b="1" spc="20">
                <a:solidFill>
                  <a:srgbClr val="29282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Pepelería Magenta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83803" y="7189750"/>
            <a:ext cx="2227309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 b="1" u="none" spc="84">
                <a:solidFill>
                  <a:srgbClr val="29282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FORMACIÓN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676627" y="9571452"/>
            <a:ext cx="3007224" cy="182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80"/>
              </a:lnSpc>
              <a:spcBef>
                <a:spcPct val="0"/>
              </a:spcBef>
            </a:pPr>
            <a:r>
              <a:rPr lang="en-US" sz="1057" b="1" spc="22">
                <a:solidFill>
                  <a:srgbClr val="29282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BACHILLER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688057" y="9836588"/>
            <a:ext cx="2444610" cy="170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80"/>
              </a:lnSpc>
              <a:spcBef>
                <a:spcPct val="0"/>
              </a:spcBef>
            </a:pPr>
            <a:r>
              <a:rPr lang="en-US" sz="985" spc="2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Instituto San Pablo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688057" y="10073512"/>
            <a:ext cx="2374349" cy="166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0"/>
              </a:lnSpc>
              <a:spcBef>
                <a:spcPct val="0"/>
              </a:spcBef>
            </a:pPr>
            <a:r>
              <a:rPr lang="en-US" sz="957" spc="2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2019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676627" y="3353936"/>
            <a:ext cx="3032035" cy="166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0"/>
              </a:lnSpc>
              <a:spcBef>
                <a:spcPct val="0"/>
              </a:spcBef>
            </a:pPr>
            <a:r>
              <a:rPr lang="en-US" sz="957" spc="2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676627" y="4136864"/>
            <a:ext cx="3248637" cy="19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10"/>
              </a:lnSpc>
              <a:spcBef>
                <a:spcPct val="0"/>
              </a:spcBef>
            </a:pPr>
            <a:r>
              <a:rPr lang="en-US" sz="1078" b="1" spc="22">
                <a:solidFill>
                  <a:srgbClr val="29282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EMPRENDEDORA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676627" y="4382056"/>
            <a:ext cx="3114121" cy="169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76"/>
              </a:lnSpc>
              <a:spcBef>
                <a:spcPct val="0"/>
              </a:spcBef>
            </a:pPr>
            <a:r>
              <a:rPr lang="en-US" sz="983" b="1" spc="20">
                <a:solidFill>
                  <a:srgbClr val="29282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Restaurante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688057" y="4620194"/>
            <a:ext cx="3032035" cy="166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0"/>
              </a:lnSpc>
              <a:spcBef>
                <a:spcPct val="0"/>
              </a:spcBef>
            </a:pPr>
            <a:r>
              <a:rPr lang="en-US" sz="957" spc="2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2024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7773" y="8703312"/>
            <a:ext cx="1037325" cy="207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4774" lvl="1" indent="-107387" algn="l">
              <a:lnSpc>
                <a:spcPts val="1661"/>
              </a:lnSpc>
              <a:buFont typeface="Arial"/>
              <a:buChar char="•"/>
            </a:pPr>
            <a:r>
              <a:rPr lang="en-US" sz="994" spc="2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Español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16921" y="8218450"/>
            <a:ext cx="1886419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3"/>
              </a:lnSpc>
            </a:pPr>
            <a:r>
              <a:rPr lang="en-US" sz="1277" b="1" spc="83">
                <a:solidFill>
                  <a:srgbClr val="29282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IDIOMAS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76388" y="6914621"/>
            <a:ext cx="1988184" cy="20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1"/>
              </a:lnSpc>
            </a:pPr>
            <a:r>
              <a:rPr lang="en-US" sz="994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Karinagrajales19@gmail.com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76388" y="6596006"/>
            <a:ext cx="1988184" cy="20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1"/>
              </a:lnSpc>
            </a:pPr>
            <a:r>
              <a:rPr lang="en-US" sz="994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3202704490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76388" y="7276587"/>
            <a:ext cx="1988184" cy="20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1"/>
              </a:lnSpc>
            </a:pPr>
            <a:r>
              <a:rPr lang="en-US" sz="994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Pensilvania: carrera 4# 3 19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56431" y="6142736"/>
            <a:ext cx="1886419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3"/>
              </a:lnSpc>
            </a:pPr>
            <a:r>
              <a:rPr lang="en-US" sz="1277" b="1" spc="83">
                <a:solidFill>
                  <a:srgbClr val="29282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CONTACTO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92502" y="4164782"/>
            <a:ext cx="1950348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3"/>
              </a:lnSpc>
            </a:pPr>
            <a:r>
              <a:rPr lang="en-US" sz="1277" b="1" spc="83">
                <a:solidFill>
                  <a:srgbClr val="29282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SOBRE MÍ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676627" y="4853046"/>
            <a:ext cx="3415396" cy="33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988" spc="2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Atención al cliente, manejo de caja, apoyo en cocina, manejo de pedidos.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688057" y="7638762"/>
            <a:ext cx="3007224" cy="36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80"/>
              </a:lnSpc>
              <a:spcBef>
                <a:spcPct val="0"/>
              </a:spcBef>
            </a:pPr>
            <a:r>
              <a:rPr lang="en-US" sz="1057" b="1" spc="22">
                <a:solidFill>
                  <a:srgbClr val="29282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TÉCNICO PROFESIONAL EN PRODUCCIÓN AGROPECUARIA- III SEMESTRE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688057" y="8069099"/>
            <a:ext cx="2221429" cy="17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85"/>
              </a:lnSpc>
              <a:spcBef>
                <a:spcPct val="0"/>
              </a:spcBef>
            </a:pPr>
            <a:r>
              <a:rPr lang="en-US" sz="989" spc="2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 Publica del Oriente de Cldas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688057" y="8289485"/>
            <a:ext cx="2374349" cy="166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0"/>
              </a:lnSpc>
              <a:spcBef>
                <a:spcPct val="0"/>
              </a:spcBef>
            </a:pPr>
            <a:r>
              <a:rPr lang="en-US" sz="957" spc="2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2025 - 2026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688057" y="5469377"/>
            <a:ext cx="3223055" cy="184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8"/>
              </a:lnSpc>
              <a:spcBef>
                <a:spcPct val="0"/>
              </a:spcBef>
            </a:pPr>
            <a:r>
              <a:rPr lang="en-US" sz="1070" b="1" spc="22">
                <a:solidFill>
                  <a:srgbClr val="29282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EMPRENDEDORA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676627" y="5730124"/>
            <a:ext cx="2781023" cy="16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  <a:spcBef>
                <a:spcPct val="0"/>
              </a:spcBef>
            </a:pPr>
            <a:r>
              <a:rPr lang="en-US" sz="970" b="1" spc="20">
                <a:solidFill>
                  <a:srgbClr val="29282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Café Tista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676627" y="5949319"/>
            <a:ext cx="3467314" cy="170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79"/>
              </a:lnSpc>
              <a:spcBef>
                <a:spcPct val="0"/>
              </a:spcBef>
            </a:pPr>
            <a:r>
              <a:rPr lang="en-US" sz="985" spc="2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2026 - Actual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676627" y="6228461"/>
            <a:ext cx="3375569" cy="49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976" spc="2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Educación sobre el café, preparación de bebidas, aprendiendo y compartiendo conocimientos y promoviendo el consumo de café de calidad en la comunidad.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676627" y="8658227"/>
            <a:ext cx="3007224" cy="36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80"/>
              </a:lnSpc>
              <a:spcBef>
                <a:spcPct val="0"/>
              </a:spcBef>
            </a:pPr>
            <a:r>
              <a:rPr lang="en-US" sz="1057" b="1" spc="22">
                <a:solidFill>
                  <a:srgbClr val="29282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TÉCNICO EN PRODUCCIÓN DE CAFÉS ESPECIALES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676627" y="9069514"/>
            <a:ext cx="2374349" cy="166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0"/>
              </a:lnSpc>
              <a:spcBef>
                <a:spcPct val="0"/>
              </a:spcBef>
            </a:pPr>
            <a:r>
              <a:rPr lang="en-US" sz="957" spc="2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SENA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688057" y="9283316"/>
            <a:ext cx="2374349" cy="166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0"/>
              </a:lnSpc>
              <a:spcBef>
                <a:spcPct val="0"/>
              </a:spcBef>
            </a:pPr>
            <a:r>
              <a:rPr lang="en-US" sz="957" spc="20">
                <a:solidFill>
                  <a:srgbClr val="2928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Personalizado</PresentationFormat>
  <Paragraphs>32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Calibri</vt:lpstr>
      <vt:lpstr>Arial</vt:lpstr>
      <vt:lpstr>Times New Roman Bold</vt:lpstr>
      <vt:lpstr>Times New Roman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Karina Grajales Órtiz</dc:title>
  <dc:creator>karina Grajales</dc:creator>
  <cp:lastModifiedBy>karina Grajales</cp:lastModifiedBy>
  <cp:revision>1</cp:revision>
  <dcterms:created xsi:type="dcterms:W3CDTF">2006-08-16T00:00:00Z</dcterms:created>
  <dcterms:modified xsi:type="dcterms:W3CDTF">2026-05-25T18:20:27Z</dcterms:modified>
  <dc:identifier>DAHKaETdzqY</dc:identifier>
</cp:coreProperties>
</file>